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388c59f39e4035" /><Relationship Type="http://schemas.openxmlformats.org/officeDocument/2006/relationships/extended-properties" Target="/docProps/app.xml" Id="Rccbafcc452444c84" /><Relationship Type="http://schemas.openxmlformats.org/officeDocument/2006/relationships/officeDocument" Target="/ppt/presentation.xml" Id="R070f651607cd48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7ff0d12b21492a"/>
  </p:sldMasterIdLst>
  <p:notesMasterIdLst>
    <p:notesMasterId xmlns:r="http://schemas.openxmlformats.org/officeDocument/2006/relationships" r:id="R5336155483734e5b"/>
  </p:notesMasterIdLst>
  <p:sldIdLst>
    <p:sldId xmlns:r="http://schemas.openxmlformats.org/officeDocument/2006/relationships" id="256" r:id="R66a9a03f63bd465c"/>
    <p:sldId xmlns:r="http://schemas.openxmlformats.org/officeDocument/2006/relationships" id="257" r:id="R3164a6b6e20b48ca"/>
    <p:sldId xmlns:r="http://schemas.openxmlformats.org/officeDocument/2006/relationships" id="258" r:id="Rf0855e89eab541b7"/>
    <p:sldId xmlns:r="http://schemas.openxmlformats.org/officeDocument/2006/relationships" id="259" r:id="Re4e2207b810e4aa6"/>
    <p:sldId xmlns:r="http://schemas.openxmlformats.org/officeDocument/2006/relationships" id="260" r:id="Rc2c374ed3d8b49c9"/>
    <p:sldId xmlns:r="http://schemas.openxmlformats.org/officeDocument/2006/relationships" id="261" r:id="R14b9a9301b37421a"/>
    <p:sldId xmlns:r="http://schemas.openxmlformats.org/officeDocument/2006/relationships" id="262" r:id="Ra8c52faf71584154"/>
    <p:sldId xmlns:r="http://schemas.openxmlformats.org/officeDocument/2006/relationships" id="263" r:id="Rf80f91d81eed4148"/>
    <p:sldId xmlns:r="http://schemas.openxmlformats.org/officeDocument/2006/relationships" id="264" r:id="Rc438a6f96fd5471e"/>
    <p:sldId xmlns:r="http://schemas.openxmlformats.org/officeDocument/2006/relationships" id="265" r:id="Rd4a4759ea3df4419"/>
    <p:sldId xmlns:r="http://schemas.openxmlformats.org/officeDocument/2006/relationships" id="266" r:id="Re2bafda89db34511"/>
    <p:sldId xmlns:r="http://schemas.openxmlformats.org/officeDocument/2006/relationships" id="267" r:id="R8b7c09f3ae674b04"/>
    <p:sldId xmlns:r="http://schemas.openxmlformats.org/officeDocument/2006/relationships" id="268" r:id="R0e6a434faa1c48ca"/>
    <p:sldId xmlns:r="http://schemas.openxmlformats.org/officeDocument/2006/relationships" id="269" r:id="R3c9817ec514c4bf6"/>
    <p:sldId xmlns:r="http://schemas.openxmlformats.org/officeDocument/2006/relationships" id="270" r:id="R24335fd6d8f240f1"/>
    <p:sldId xmlns:r="http://schemas.openxmlformats.org/officeDocument/2006/relationships" id="271" r:id="R0c6ea8a2321f49b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8a9e56faaa46dd" /><Relationship Type="http://schemas.openxmlformats.org/officeDocument/2006/relationships/slideMaster" Target="/ppt/slideMasters/slideMaster1.xml" Id="Rf77ff0d12b21492a" /><Relationship Type="http://schemas.openxmlformats.org/officeDocument/2006/relationships/notesMaster" Target="/ppt/notesMasters/notesMaster1.xml" Id="R5336155483734e5b" /><Relationship Type="http://schemas.openxmlformats.org/officeDocument/2006/relationships/presProps" Target="/ppt/presProps.xml" Id="R4c20fae13e3c4dda" /><Relationship Type="http://schemas.openxmlformats.org/officeDocument/2006/relationships/viewProps" Target="/ppt/viewProps.xml" Id="R8bd145183d744441" /><Relationship Type="http://schemas.openxmlformats.org/officeDocument/2006/relationships/tableStyles" Target="/ppt/tableStyles.xml" Id="Rf22ae11c11e14f39" /><Relationship Type="http://schemas.openxmlformats.org/officeDocument/2006/relationships/slide" Target="/ppt/slides/slide1.xml" Id="R66a9a03f63bd465c" /><Relationship Type="http://schemas.openxmlformats.org/officeDocument/2006/relationships/slide" Target="/ppt/slides/slide2.xml" Id="R3164a6b6e20b48ca" /><Relationship Type="http://schemas.openxmlformats.org/officeDocument/2006/relationships/slide" Target="/ppt/slides/slide3.xml" Id="Rf0855e89eab541b7" /><Relationship Type="http://schemas.openxmlformats.org/officeDocument/2006/relationships/slide" Target="/ppt/slides/slide4.xml" Id="Re4e2207b810e4aa6" /><Relationship Type="http://schemas.openxmlformats.org/officeDocument/2006/relationships/slide" Target="/ppt/slides/slide5.xml" Id="Rc2c374ed3d8b49c9" /><Relationship Type="http://schemas.openxmlformats.org/officeDocument/2006/relationships/slide" Target="/ppt/slides/slide6.xml" Id="R14b9a9301b37421a" /><Relationship Type="http://schemas.openxmlformats.org/officeDocument/2006/relationships/slide" Target="/ppt/slides/slide7.xml" Id="Ra8c52faf71584154" /><Relationship Type="http://schemas.openxmlformats.org/officeDocument/2006/relationships/slide" Target="/ppt/slides/slide8.xml" Id="Rf80f91d81eed4148" /><Relationship Type="http://schemas.openxmlformats.org/officeDocument/2006/relationships/slide" Target="/ppt/slides/slide9.xml" Id="Rc438a6f96fd5471e" /><Relationship Type="http://schemas.openxmlformats.org/officeDocument/2006/relationships/slide" Target="/ppt/slides/slide10.xml" Id="Rd4a4759ea3df4419" /><Relationship Type="http://schemas.openxmlformats.org/officeDocument/2006/relationships/slide" Target="/ppt/slides/slide11.xml" Id="Re2bafda89db34511" /><Relationship Type="http://schemas.openxmlformats.org/officeDocument/2006/relationships/slide" Target="/ppt/slides/slide12.xml" Id="R8b7c09f3ae674b04" /><Relationship Type="http://schemas.openxmlformats.org/officeDocument/2006/relationships/slide" Target="/ppt/slides/slide13.xml" Id="R0e6a434faa1c48ca" /><Relationship Type="http://schemas.openxmlformats.org/officeDocument/2006/relationships/slide" Target="/ppt/slides/slide14.xml" Id="R3c9817ec514c4bf6" /><Relationship Type="http://schemas.openxmlformats.org/officeDocument/2006/relationships/slide" Target="/ppt/slides/slide15.xml" Id="R24335fd6d8f240f1" /><Relationship Type="http://schemas.openxmlformats.org/officeDocument/2006/relationships/slide" Target="/ppt/slides/slide16.xml" Id="R0c6ea8a2321f49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8f7ab673c34c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fda93843444b0a" /><Relationship Type="http://schemas.openxmlformats.org/officeDocument/2006/relationships/notesMaster" Target="/ppt/notesMasters/notesMaster1.xml" Id="Rf34d408b579b45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1f30e9e13b493e" /><Relationship Type="http://schemas.openxmlformats.org/officeDocument/2006/relationships/notesMaster" Target="/ppt/notesMasters/notesMaster1.xml" Id="R5ad9cdc1fd7843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ed65a93eb64592" /><Relationship Type="http://schemas.openxmlformats.org/officeDocument/2006/relationships/notesMaster" Target="/ppt/notesMasters/notesMaster1.xml" Id="Rf6eac623e7cb4d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98fb2da69a4a64" /><Relationship Type="http://schemas.openxmlformats.org/officeDocument/2006/relationships/notesMaster" Target="/ppt/notesMasters/notesMaster1.xml" Id="R3eeb01e2f4ac43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11ce0d6ca9457a" /><Relationship Type="http://schemas.openxmlformats.org/officeDocument/2006/relationships/notesMaster" Target="/ppt/notesMasters/notesMaster1.xml" Id="Rff4c537564504e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ee1bf980e847d3" /><Relationship Type="http://schemas.openxmlformats.org/officeDocument/2006/relationships/notesMaster" Target="/ppt/notesMasters/notesMaster1.xml" Id="R31ec7fea7cfc4c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a25fc0f5044d05" /><Relationship Type="http://schemas.openxmlformats.org/officeDocument/2006/relationships/notesMaster" Target="/ppt/notesMasters/notesMaster1.xml" Id="Rdadde65565c54a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e88cc5e3554892" /><Relationship Type="http://schemas.openxmlformats.org/officeDocument/2006/relationships/notesMaster" Target="/ppt/notesMasters/notesMaster1.xml" Id="Rbb78d297c0a440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0e49d227844890" /><Relationship Type="http://schemas.openxmlformats.org/officeDocument/2006/relationships/notesMaster" Target="/ppt/notesMasters/notesMaster1.xml" Id="R0df771fe1a394a7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bd3e93886e4b7c" /><Relationship Type="http://schemas.openxmlformats.org/officeDocument/2006/relationships/notesMaster" Target="/ppt/notesMasters/notesMaster1.xml" Id="Ra55bd20f1f2648b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e361b6f8e8438f" /><Relationship Type="http://schemas.openxmlformats.org/officeDocument/2006/relationships/notesMaster" Target="/ppt/notesMasters/notesMaster1.xml" Id="Rdaaad0b87aa747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0bc8228480947eb" /><Relationship Type="http://schemas.openxmlformats.org/officeDocument/2006/relationships/notesMaster" Target="/ppt/notesMasters/notesMaster1.xml" Id="Re023ef56acac46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9392570eeeb4a41" /><Relationship Type="http://schemas.openxmlformats.org/officeDocument/2006/relationships/notesMaster" Target="/ppt/notesMasters/notesMaster1.xml" Id="R6a1810c49e2448b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0403cdcd3274cbb" /><Relationship Type="http://schemas.openxmlformats.org/officeDocument/2006/relationships/notesMaster" Target="/ppt/notesMasters/notesMaster1.xml" Id="R5cdab5304c69418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9a926fe755746a7" /><Relationship Type="http://schemas.openxmlformats.org/officeDocument/2006/relationships/notesMaster" Target="/ppt/notesMasters/notesMaster1.xml" Id="R8d7e353df179408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88b54b5617d48bf" /><Relationship Type="http://schemas.openxmlformats.org/officeDocument/2006/relationships/notesMaster" Target="/ppt/notesMasters/notesMaster1.xml" Id="R03e096b1e16c49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958268d119463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da047c998141c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4e9c865e024ae4" /><Relationship Type="http://schemas.openxmlformats.org/officeDocument/2006/relationships/slideLayout" Target="/ppt/slideLayouts/slideLayout1.xml" Id="R3c4aa383adf446a4" /><Relationship Type="http://schemas.openxmlformats.org/officeDocument/2006/relationships/slideLayout" Target="/ppt/slideLayouts/slideLayout2.xml" Id="R0c4489defb22468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4aa383adf446a4"/>
    <p:sldLayoutId xmlns:r="http://schemas.openxmlformats.org/officeDocument/2006/relationships" id="2147483650" r:id="R0c4489defb22468f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7f29b0797c4fa3" /><Relationship Type="http://schemas.openxmlformats.org/officeDocument/2006/relationships/notesSlide" Target="/ppt/notesSlides/notesSlide1.xml" Id="R63657e64e9bf48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967d593dc942ba" /><Relationship Type="http://schemas.openxmlformats.org/officeDocument/2006/relationships/notesSlide" Target="/ppt/notesSlides/notesSlide2.xml" Id="R3ae231c8837741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2c874b1b2c4d0f" /><Relationship Type="http://schemas.openxmlformats.org/officeDocument/2006/relationships/notesSlide" Target="/ppt/notesSlides/notesSlide3.xml" Id="R2f265ff528b24d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8d52e4a9f843d5" /><Relationship Type="http://schemas.openxmlformats.org/officeDocument/2006/relationships/notesSlide" Target="/ppt/notesSlides/notesSlide4.xml" Id="Rff668d84f34b42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fb6432d8654988" /><Relationship Type="http://schemas.openxmlformats.org/officeDocument/2006/relationships/notesSlide" Target="/ppt/notesSlides/notesSlide5.xml" Id="Rc37c7cbf650349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071e1b3b034981" /><Relationship Type="http://schemas.openxmlformats.org/officeDocument/2006/relationships/notesSlide" Target="/ppt/notesSlides/notesSlide6.xml" Id="R37073e96ca6e40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aa991f7f504639" /><Relationship Type="http://schemas.openxmlformats.org/officeDocument/2006/relationships/notesSlide" Target="/ppt/notesSlides/notesSlide7.xml" Id="R41d64c41750148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03f071b0e04667" /><Relationship Type="http://schemas.openxmlformats.org/officeDocument/2006/relationships/notesSlide" Target="/ppt/notesSlides/notesSlide8.xml" Id="Rf2ee06df8f8f46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0df26e5b9c4bcd" /><Relationship Type="http://schemas.openxmlformats.org/officeDocument/2006/relationships/notesSlide" Target="/ppt/notesSlides/notesSlide9.xml" Id="Rda7a279893bc4c8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d73ce9c62546d5" /><Relationship Type="http://schemas.openxmlformats.org/officeDocument/2006/relationships/notesSlide" Target="/ppt/notesSlides/notesSlide10.xml" Id="R929bd1ad5d6d4b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2460adb2e84110" /><Relationship Type="http://schemas.openxmlformats.org/officeDocument/2006/relationships/notesSlide" Target="/ppt/notesSlides/notesSlide11.xml" Id="R7459303dbb3944a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a4d15c1af94c40" /><Relationship Type="http://schemas.openxmlformats.org/officeDocument/2006/relationships/notesSlide" Target="/ppt/notesSlides/notesSlide12.xml" Id="Rebff6b9c079d477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0d7c49a24648f1" /><Relationship Type="http://schemas.openxmlformats.org/officeDocument/2006/relationships/notesSlide" Target="/ppt/notesSlides/notesSlide13.xml" Id="R854758d178e5448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70c1a801954cdb" /><Relationship Type="http://schemas.openxmlformats.org/officeDocument/2006/relationships/notesSlide" Target="/ppt/notesSlides/notesSlide14.xml" Id="Rdbcd16037095478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17a507630d458a" /><Relationship Type="http://schemas.openxmlformats.org/officeDocument/2006/relationships/notesSlide" Target="/ppt/notesSlides/notesSlide15.xml" Id="Re8975df1b00647b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ee131cdc804531" /><Relationship Type="http://schemas.openxmlformats.org/officeDocument/2006/relationships/notesSlide" Target="/ppt/notesSlides/notesSlide16.xml" Id="Rdcfe00570c9e43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8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7A2749B-D9FF-47FE-90AE-E72F659D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 w="12700">
            <a:solidFill>
              <a:srgbClr val="1018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algn="r">
              <a:buNone/>
            </a:pPr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5915361-D4E5-472D-B781-467E417F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0"/>
            <a:ext cx="457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939"/>
          </a:solidFill>
          <a:ln xmlns:a="http://schemas.openxmlformats.org/drawingml/2006/main" w="12700">
            <a:solidFill>
              <a:srgbClr val="1D293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75E9187-8727-454C-BC2C-A3345E8C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-914400"/>
            <a:ext cx="4389120" cy="438912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00A7B5">
              <a:alpha val="22000"/>
            </a:srgbClr>
          </a:solidFill>
          <a:ln xmlns:a="http://schemas.openxmlformats.org/drawingml/2006/main" w="12700">
            <a:solidFill>
              <a:srgbClr val="00A7B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5E4E989-5C84-4878-9ECF-EAD7F645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4389120"/>
            <a:ext cx="3017520" cy="301752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6C63FF">
              <a:alpha val="28000"/>
            </a:srgbClr>
          </a:solidFill>
          <a:ln xmlns:a="http://schemas.openxmlformats.org/drawingml/2006/main" w="12700">
            <a:solidFill>
              <a:srgbClr val="6C63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2F0269D-4AB6-4B7B-B6F4-71277B96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749808"/>
            <a:ext cx="617220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Semantic API</a:t>
            </a:r>
          </a:p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Request Diagnosis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5E91E77-EDD8-4501-B3A3-F2DBEC17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359152"/>
            <a:ext cx="2011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0A7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1685BE6-02A9-4432-AB2A-8BF2FD5A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42032"/>
            <a:ext cx="51206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20">
                <a:solidFill>
                  <a:srgbClr val="D0D5DD"/>
                </a:solidFill>
                <a:latin typeface="Aptos"/>
                <a:ea typeface="Aptos"/>
                <a:cs typeface="Aptos"/>
              </a:rPr>
              <a:t>Multi-label semantic error diagnosis</a:t>
            </a:r>
          </a:p>
          <a:p xmlns:a="http://schemas.openxmlformats.org/drawingml/2006/main">
            <a:pPr marL="0" indent="0">
              <a:buNone/>
            </a:pPr>
            <a:r>
              <a:rPr sz="1520">
                <a:solidFill>
                  <a:srgbClr val="D0D5DD"/>
                </a:solidFill>
                <a:latin typeface="Aptos"/>
                <a:ea typeface="Aptos"/>
                <a:cs typeface="Aptos"/>
              </a:rPr>
              <a:t>from natural-language endpoint contracts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2C0D731-637E-4FE1-A3A0-6BB05ECF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15584"/>
            <a:ext cx="3108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80">
                <a:solidFill>
                  <a:srgbClr val="98A2B3"/>
                </a:solidFill>
                <a:latin typeface="Aptos"/>
                <a:ea typeface="Aptos"/>
                <a:cs typeface="Aptos"/>
              </a:rPr>
              <a:t>NLP / LLM Course Project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5F42D63-6DC6-4C81-A4D7-FF517DB0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632" y="581558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80">
                <a:solidFill>
                  <a:srgbClr val="98A2B3"/>
                </a:solidFill>
                <a:latin typeface="Aptos"/>
                <a:ea typeface="Aptos"/>
                <a:cs typeface="Aptos"/>
              </a:rPr>
              <a:t>Benchmark + evaluation study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AC63305-557B-462F-A166-29E5A000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822960"/>
            <a:ext cx="3867912" cy="1170432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7620">
            <a:solidFill>
              <a:srgbClr val="47546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21315D1-2D9C-407B-B807-E9BA2CB0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1024128"/>
            <a:ext cx="1143000" cy="256032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6FFFB"/>
          </a:solidFill>
          <a:ln xmlns:a="http://schemas.openxmlformats.org/drawingml/2006/main" w="12700">
            <a:solidFill>
              <a:srgbClr val="E6FFF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B16E8D3-2695-47CA-9032-E0805270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824" y="1083564"/>
            <a:ext cx="996696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2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CONTRACT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0F53032-D293-496E-91CA-48FC275C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1353312"/>
            <a:ext cx="33832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101828"/>
                </a:solidFill>
                <a:latin typeface="Aptos"/>
                <a:ea typeface="Aptos"/>
                <a:cs typeface="Aptos"/>
              </a:rPr>
              <a:t>Refunds are allowed only for</a:t>
            </a:r>
          </a:p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101828"/>
                </a:solidFill>
                <a:latin typeface="Aptos"/>
                <a:ea typeface="Aptos"/>
                <a:cs typeface="Aptos"/>
              </a:rPr>
              <a:t>paid orders. Refund amount</a:t>
            </a:r>
          </a:p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101828"/>
                </a:solidFill>
                <a:latin typeface="Aptos"/>
                <a:ea typeface="Aptos"/>
                <a:cs typeface="Aptos"/>
              </a:rPr>
              <a:t>must not exceed payment.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E24F700-D539-405C-8E17-851D820D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075688"/>
            <a:ext cx="0" cy="4663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0A7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63F56AE-DEB0-421A-A441-AAEBDC55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633472"/>
            <a:ext cx="3867912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7620">
            <a:solidFill>
              <a:srgbClr val="47546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21D92632-9FA0-4D51-B2E2-F937ABBE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2834640"/>
            <a:ext cx="1078992" cy="256032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EEF4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C9BEDDA-A7B6-4944-ABEC-E5C65429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824" y="2894076"/>
            <a:ext cx="932688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2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REQUEST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4C48703-E6C2-4992-9785-13C00C71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3154680"/>
            <a:ext cx="338328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POST /orders/839/refunds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refund_amount: 120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original_payment: 80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677BDC2-1273-4895-9C48-D6ADA77E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4041648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6C63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1C97F22A-7BE4-404F-97BC-21378FE2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4608576"/>
            <a:ext cx="3867912" cy="804672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47546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AD66F42-EC60-4D6C-80E7-005CDEEC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4718304"/>
            <a:ext cx="64008" cy="585216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79009"/>
          </a:solidFill>
          <a:ln xmlns:a="http://schemas.openxmlformats.org/drawingml/2006/main" w="12700">
            <a:solidFill>
              <a:srgbClr val="F7900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B471353-10EF-4D29-AE99-BC4766F5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4754880"/>
            <a:ext cx="91440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8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26DE1D0-7CC7-45D2-A875-3566AB7E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5010912"/>
            <a:ext cx="32004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1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semantic_domain_constraint_violation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7EAAA270-5C53-4B5E-BC22-ABF09C8E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10528"/>
            <a:ext cx="11155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34405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F3D3CD2-6B92-4B55-91F5-85E0C6C1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029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50">
                <a:solidFill>
                  <a:srgbClr val="D0D5DD"/>
                </a:solidFill>
                <a:latin typeface="Aptos"/>
                <a:ea typeface="Aptos"/>
                <a:cs typeface="Aptos"/>
              </a:rPr>
              <a:t>Semantic API Request Diagnosis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F5F4287-06DC-4D16-B83E-0F59955B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0" y="6547104"/>
            <a:ext cx="3200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50" b="1">
                <a:solidFill>
                  <a:srgbClr val="D0D5D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8" name="Text 6">
            <a:extLst xmlns:a="http://schemas.openxmlformats.org/drawingml/2006/main">
              <a:ext uri="{FF2B5EF4-FFF2-40B4-BE49-F238E27FC236}">
                <a16:creationId xmlns:a16="http://schemas.microsoft.com/office/drawing/2014/main" id="{9FA9B5D7-2FB5-C417-03D9-5AC24D80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5605611"/>
            <a:ext cx="2148840" cy="9509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20">
                <a:solidFill>
                  <a:srgbClr val="D0D5DD"/>
                </a:solidFill>
                <a:latin typeface="Aptos"/>
                <a:ea typeface="Aptos"/>
                <a:cs typeface="Aptos"/>
              </a:rPr>
              <a:t>Shely Zino – 324926393</a:t>
            </a:r>
          </a:p>
          <a:p xmlns:a="http://schemas.openxmlformats.org/drawingml/2006/main">
            <a:r>
              <a:rPr sz="1520">
                <a:solidFill>
                  <a:srgbClr val="D0D5DD"/>
                </a:solidFill>
                <a:latin typeface="Aptos"/>
                <a:ea typeface="Aptos"/>
                <a:cs typeface="Aptos"/>
              </a:rPr>
              <a:t>Linoy Ezra - </a:t>
            </a:r>
            <a:r>
              <a:rPr sz="1520">
                <a:solidFill>
                  <a:srgbClr val="D0D5DD"/>
                </a:solidFill>
                <a:latin typeface="Aptos"/>
                <a:ea typeface="Aptos"/>
                <a:cs typeface="Aptos"/>
              </a:rPr>
              <a:t>214215444</a:t>
            </a:r>
          </a:p>
        </p:txBody>
      </p:sp>
    </p:spTree>
    <p:extLst>
      <p:ext uri="{BB962C8B-B14F-4D97-AF65-F5344CB8AC3E}">
        <p14:creationId xmlns:p14="http://schemas.microsoft.com/office/powerpoint/2010/main" val="16899501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E65B9CE-9123-4E39-A2D2-70EC513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-731520"/>
            <a:ext cx="3474720" cy="347472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D1E9FF">
              <a:alpha val="45000"/>
            </a:srgbClr>
          </a:solidFill>
          <a:ln xmlns:a="http://schemas.openxmlformats.org/drawingml/2006/main" w="12700">
            <a:solidFill>
              <a:srgbClr val="D1E9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0C5A0AB-2677-4C92-8673-0D063EDD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371600" y="5120640"/>
            <a:ext cx="2926080" cy="292608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E0EAFF">
              <a:alpha val="50000"/>
            </a:srgbClr>
          </a:solidFill>
          <a:ln xmlns:a="http://schemas.openxmlformats.org/drawingml/2006/main" w="12700">
            <a:solidFill>
              <a:srgbClr val="E0EA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48A1B81-134F-49FD-85AB-B638C7B1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20624"/>
            <a:ext cx="1444752" cy="27432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D1E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6936400-A068-4ECB-82A8-3C1D035C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5488"/>
            <a:ext cx="129844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80" b="1">
                <a:solidFill>
                  <a:srgbClr val="2E90FA"/>
                </a:solidFill>
                <a:latin typeface="Aptos"/>
                <a:ea typeface="Aptos"/>
                <a:cs typeface="Aptos"/>
              </a:rPr>
              <a:t>MOTIVATION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7092DE3-EAA4-4934-A77D-D5F2620A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32104"/>
            <a:ext cx="88696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API requests can fail by meaning, not only syntax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2314EBA-92EF-4A31-A730-02DC2989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98448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467"/>
                </a:solidFill>
                <a:latin typeface="Aptos"/>
                <a:ea typeface="Aptos"/>
                <a:cs typeface="Aptos"/>
              </a:rPr>
              <a:t>The practical bottleneck: developers and QA need to understand why a request is invalid.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32DF2CC-63CF-4442-92DC-E736EC04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38528"/>
            <a:ext cx="3429000" cy="141732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EC5B660-1729-4B47-9A52-53F358B3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8256"/>
            <a:ext cx="64008" cy="119786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90FA"/>
          </a:solidFill>
          <a:ln xmlns:a="http://schemas.openxmlformats.org/drawingml/2006/main" w="12700">
            <a:solidFill>
              <a:srgbClr val="2E90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A1E043D-1FD9-47F9-A092-09A46C7A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157984"/>
            <a:ext cx="2990088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6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ORDINARY VALIDATORS CATCH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4A1206E-1A95-4AD7-BFC8-EAF80A1D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414016"/>
            <a:ext cx="29900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2E90FA"/>
                </a:solidFill>
                <a:latin typeface="Aptos Display"/>
                <a:ea typeface="Aptos Display"/>
                <a:cs typeface="Aptos Display"/>
              </a:rPr>
              <a:t>syntax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F917BEB-793B-4C6F-A6FE-19B2ABEC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834640"/>
            <a:ext cx="2990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>
                <a:solidFill>
                  <a:srgbClr val="475467"/>
                </a:solidFill>
                <a:latin typeface="Aptos"/>
                <a:ea typeface="Aptos"/>
                <a:cs typeface="Aptos"/>
              </a:rPr>
              <a:t>missing fields, wrong types, bad URLs, method/auth problems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E9A1B6E-1AB5-440C-9EBA-D2A29CFB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938528"/>
            <a:ext cx="3429000" cy="141732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D7F3D32-56C1-4FD1-99D9-5ECBAF06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2048256"/>
            <a:ext cx="64008" cy="119786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0A7B5"/>
          </a:solidFill>
          <a:ln xmlns:a="http://schemas.openxmlformats.org/drawingml/2006/main" w="12700">
            <a:solidFill>
              <a:srgbClr val="00A7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FF70E37-6687-4BEA-B1AD-5DC6D3DB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157984"/>
            <a:ext cx="2990088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6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HARD CASES REQUIRE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7F7E330-F477-4D68-AA55-1CC649FA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414016"/>
            <a:ext cx="29900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0A7B5"/>
                </a:solidFill>
                <a:latin typeface="Aptos Display"/>
                <a:ea typeface="Aptos Display"/>
                <a:cs typeface="Aptos Display"/>
              </a:rPr>
              <a:t>semantics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4FD6593-704D-4D23-A071-B17F57C4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834640"/>
            <a:ext cx="2990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>
                <a:solidFill>
                  <a:srgbClr val="475467"/>
                </a:solidFill>
                <a:latin typeface="Aptos"/>
                <a:ea typeface="Aptos"/>
                <a:cs typeface="Aptos"/>
              </a:rPr>
              <a:t>business rules and state constraints expressed in natural language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37F32A5-E254-4704-8B6A-77A95642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1938528"/>
            <a:ext cx="3429000" cy="141732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B90E4D1-0F1A-4465-ADC6-3D14B189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048256"/>
            <a:ext cx="64008" cy="119786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C63FF"/>
          </a:solidFill>
          <a:ln xmlns:a="http://schemas.openxmlformats.org/drawingml/2006/main" w="12700">
            <a:solidFill>
              <a:srgbClr val="6C63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8287BC0-82A9-4B1A-BB55-70908605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157984"/>
            <a:ext cx="2990088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6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 USERS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C1D9132-2FD4-4431-B89A-BEB5B581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414016"/>
            <a:ext cx="29900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6C63FF"/>
                </a:solidFill>
                <a:latin typeface="Aptos Display"/>
                <a:ea typeface="Aptos Display"/>
                <a:cs typeface="Aptos Display"/>
              </a:rPr>
              <a:t>dev + QA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49BC4A6-0E01-42B5-A9F8-A514A837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834640"/>
            <a:ext cx="2990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>
                <a:solidFill>
                  <a:srgbClr val="475467"/>
                </a:solidFill>
                <a:latin typeface="Aptos"/>
                <a:ea typeface="Aptos"/>
                <a:cs typeface="Aptos"/>
              </a:rPr>
              <a:t>debugging, API testing, contract review, edge-case analysis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7ACB18B-20B8-4B3D-A6F6-9EB61C74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67328"/>
            <a:ext cx="10972800" cy="1417320"/>
          </a:xfrm>
          <a:prstGeom xmlns:a="http://schemas.openxmlformats.org/drawingml/2006/main" prst="roundRect">
            <a:avLst>
              <a:gd name="adj" fmla="val 7742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7620">
            <a:solidFill>
              <a:srgbClr val="172033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8C3E6CE-BAD4-4A5B-939D-F7C49341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23360"/>
            <a:ext cx="11430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Key gap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83833B6-752A-4B19-BA17-825A93A0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15968"/>
            <a:ext cx="9921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Request diagnosis is not only schema checking — it can require reading and applying the endpoint contract.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E6553E0-1B13-4DCA-BD78-C0F44E21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86868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0D5DD"/>
                </a:solidFill>
                <a:latin typeface="Aptos"/>
                <a:ea typeface="Aptos"/>
                <a:cs typeface="Aptos"/>
              </a:rPr>
              <a:t>Example semantic rule: “Refunds are allowed only for orders that have already been paid.”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E64FE4CD-17FD-4A33-9915-81835B65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10528"/>
            <a:ext cx="11155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EAEC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90914EF-151D-4D88-B027-916350E3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029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50">
                <a:solidFill>
                  <a:srgbClr val="98A2B3"/>
                </a:solidFill>
                <a:latin typeface="Aptos"/>
                <a:ea typeface="Aptos"/>
                <a:cs typeface="Aptos"/>
              </a:rPr>
              <a:t>Semantic API Request Diagnosis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B330261-93B3-44C2-A2C2-7638551D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0" y="6547104"/>
            <a:ext cx="3200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50" b="1">
                <a:solidFill>
                  <a:srgbClr val="98A2B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154893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A47EB15-420D-409D-805D-76980962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-731520"/>
            <a:ext cx="3474720" cy="347472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D1E9FF">
              <a:alpha val="45000"/>
            </a:srgbClr>
          </a:solidFill>
          <a:ln xmlns:a="http://schemas.openxmlformats.org/drawingml/2006/main" w="12700">
            <a:solidFill>
              <a:srgbClr val="D1E9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D9B8BA1-E715-4707-9F42-24425A7E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371600" y="5120640"/>
            <a:ext cx="2926080" cy="292608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E0EAFF">
              <a:alpha val="50000"/>
            </a:srgbClr>
          </a:solidFill>
          <a:ln xmlns:a="http://schemas.openxmlformats.org/drawingml/2006/main" w="12700">
            <a:solidFill>
              <a:srgbClr val="E0EA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571D964-4FB4-4491-9B44-88788F0D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20624"/>
            <a:ext cx="1444752" cy="27432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D1E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6D7AC3D-5445-4043-8E85-1DA6AC0A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5488"/>
            <a:ext cx="129844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80" b="1">
                <a:solidFill>
                  <a:srgbClr val="2E90FA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3AC67E5-06BD-4580-B158-390ABECD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32104"/>
            <a:ext cx="88696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A request can look valid — and still be wrong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6C9EB84-A465-4FBC-AF0C-DFFB619E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98448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467"/>
                </a:solidFill>
                <a:latin typeface="Aptos"/>
                <a:ea typeface="Aptos"/>
                <a:cs typeface="Aptos"/>
              </a:rPr>
              <a:t>A small refund example shows why natural-language constraints matter.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E2BC8ED-9A89-470E-9F0A-F85C4ECE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47088"/>
            <a:ext cx="5349240" cy="3063240"/>
          </a:xfrm>
          <a:prstGeom xmlns:a="http://schemas.openxmlformats.org/drawingml/2006/main" prst="roundRect">
            <a:avLst>
              <a:gd name="adj" fmla="val 358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7620">
            <a:solidFill>
              <a:srgbClr val="D0D5DD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55FAAB6-4B02-4974-9230-5E6F7BBE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6816"/>
            <a:ext cx="64008" cy="284378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0A7B5"/>
          </a:solidFill>
          <a:ln xmlns:a="http://schemas.openxmlformats.org/drawingml/2006/main" w="12700">
            <a:solidFill>
              <a:srgbClr val="00A7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5D61449-F813-4716-B811-C621A6CC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993392"/>
            <a:ext cx="5020056" cy="2816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Endpoint contract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-----------------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Create a refund for an existing paid order.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Required constraints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- The requested refund must not be greater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  than the original payment.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- Refunds are allowed only for orders that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  have already been paid.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0E9501E-2F36-4259-8A39-154F6FBA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1847088"/>
            <a:ext cx="5349240" cy="3063240"/>
          </a:xfrm>
          <a:prstGeom xmlns:a="http://schemas.openxmlformats.org/drawingml/2006/main" prst="roundRect">
            <a:avLst>
              <a:gd name="adj" fmla="val 358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7620">
            <a:solidFill>
              <a:srgbClr val="D0D5DD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8B31B5FD-A7F6-4E69-A3EF-1DBB181F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1956816"/>
            <a:ext cx="64008" cy="284378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C63FF"/>
          </a:solidFill>
          <a:ln xmlns:a="http://schemas.openxmlformats.org/drawingml/2006/main" w="12700">
            <a:solidFill>
              <a:srgbClr val="6C63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F70C1FE-515A-42F5-AD29-BA28A6C8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1993392"/>
            <a:ext cx="5020056" cy="2816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Request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-------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Method: POST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URL: /orders/839/refunds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Authentication: provided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Body fields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- order_id: 839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- refund_amount: 120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- original_payment: 80</a:t>
            </a:r>
          </a:p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- order_status: paid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C42C412-1235-4E61-84B8-E805D133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239512"/>
            <a:ext cx="9372600" cy="676656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7620">
            <a:solidFill>
              <a:srgbClr val="FEDF89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007E6EA-C159-4A42-85AD-E1215796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349240"/>
            <a:ext cx="64008" cy="4572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79009"/>
          </a:solidFill>
          <a:ln xmlns:a="http://schemas.openxmlformats.org/drawingml/2006/main" w="12700">
            <a:solidFill>
              <a:srgbClr val="F7900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4F40B9C-C738-4E24-9392-9985C32F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5422392"/>
            <a:ext cx="5029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4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Expected diagnosis: semantic_domain_constraint_violation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BC51F8B-8102-4020-B346-1BC19513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5431536"/>
            <a:ext cx="33832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475467"/>
                </a:solidFill>
                <a:latin typeface="Aptos"/>
                <a:ea typeface="Aptos"/>
                <a:cs typeface="Aptos"/>
              </a:rPr>
              <a:t>Why? refund_amount 120 &gt; original_payment 80.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2E1A020-C305-4E83-8E9A-6B9F4985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10528"/>
            <a:ext cx="11155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EAEC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72651CD-6AB6-4D47-9B4E-34129047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029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50">
                <a:solidFill>
                  <a:srgbClr val="98A2B3"/>
                </a:solidFill>
                <a:latin typeface="Aptos"/>
                <a:ea typeface="Aptos"/>
                <a:cs typeface="Aptos"/>
              </a:rPr>
              <a:t>Semantic API Request Diagnosis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9908D2C-0E05-45DD-995F-035CCB49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0" y="6547104"/>
            <a:ext cx="3200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50" b="1">
                <a:solidFill>
                  <a:srgbClr val="98A2B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864076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658B623-4E78-4ABA-BCED-F605FF33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-731520"/>
            <a:ext cx="3474720" cy="347472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D1E9FF">
              <a:alpha val="45000"/>
            </a:srgbClr>
          </a:solidFill>
          <a:ln xmlns:a="http://schemas.openxmlformats.org/drawingml/2006/main" w="12700">
            <a:solidFill>
              <a:srgbClr val="D1E9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C7334F9-FBE8-4BCB-BCEF-AD3F7A5E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371600" y="5120640"/>
            <a:ext cx="2926080" cy="292608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E0EAFF">
              <a:alpha val="50000"/>
            </a:srgbClr>
          </a:solidFill>
          <a:ln xmlns:a="http://schemas.openxmlformats.org/drawingml/2006/main" w="12700">
            <a:solidFill>
              <a:srgbClr val="E0EA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89F1726-7CDB-440D-A39F-B2B5BA36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20624"/>
            <a:ext cx="1444752" cy="27432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D1E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E861785-B2E8-4282-ABEC-76DB3B98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5488"/>
            <a:ext cx="129844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80" b="1">
                <a:solidFill>
                  <a:srgbClr val="2E90FA"/>
                </a:solidFill>
                <a:latin typeface="Aptos"/>
                <a:ea typeface="Aptos"/>
                <a:cs typeface="Aptos"/>
              </a:rPr>
              <a:t>FRAMING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CB73876-8C20-4298-9E02-45DA1F46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32104"/>
            <a:ext cx="88696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Research question and defensible claim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26BD795-133A-43D5-83CA-B1DA8891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98448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9">
                <a:solidFill>
                  <a:srgbClr val="64748B"/>
                </a:solidFill>
              </a:rPr>
              <a:t>Unlike schema validation, this benchmark targets natural-language contract-dependent semantic diagnosis.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5A0E8BE-78EE-421A-B048-9777860E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5376"/>
            <a:ext cx="5349240" cy="192024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06A76FC-EA00-4B0C-BB6B-EE921CF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75104"/>
            <a:ext cx="64008" cy="170078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90FA"/>
          </a:solidFill>
          <a:ln xmlns:a="http://schemas.openxmlformats.org/drawingml/2006/main" w="12700">
            <a:solidFill>
              <a:srgbClr val="2E90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33D42E0-161C-4154-AB42-7F63D764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21408"/>
            <a:ext cx="48006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Research question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F61F9E9-E96F-4805-B3A4-C8576A7C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60320"/>
            <a:ext cx="4663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01828"/>
                </a:solidFill>
                <a:latin typeface="Aptos"/>
                <a:ea typeface="Aptos"/>
                <a:cs typeface="Aptos"/>
              </a:rPr>
              <a:t>Can language models diagnose semantic API request errors from natural-language endpoint contracts, and generalize to unseen endpoint families?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813B6075-9F8A-442E-8D7C-BCCA5D55F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65376"/>
            <a:ext cx="5166360" cy="192024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8C7AF18-9F44-4CCB-8669-86B60CA5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1975104"/>
            <a:ext cx="64008" cy="170078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C63FF"/>
          </a:solidFill>
          <a:ln xmlns:a="http://schemas.openxmlformats.org/drawingml/2006/main" w="12700">
            <a:solidFill>
              <a:srgbClr val="6C63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5AFD46F-B87A-4F0D-B4FC-88BFB225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2121408"/>
            <a:ext cx="4572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Final supported claim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D1BDCC3-740C-4E07-99DA-8DD1FE5E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256" y="2578608"/>
            <a:ext cx="452628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101828"/>
                </a:solidFill>
                <a:latin typeface="Aptos"/>
                <a:ea typeface="Aptos"/>
                <a:cs typeface="Aptos"/>
              </a:rPr>
              <a:t>We contribute a reproducible benchmark, data-generation pipeline, quality gates, baselines, shortcut ablations, and error-analysis framework.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36CB9E4-3600-44A5-A358-08B96672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9392"/>
            <a:ext cx="3429000" cy="114300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5EB5FBC5-6CB6-4773-9B2B-5E6D713D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389120"/>
            <a:ext cx="64008" cy="92354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90FA"/>
          </a:solidFill>
          <a:ln xmlns:a="http://schemas.openxmlformats.org/drawingml/2006/main" w="12700">
            <a:solidFill>
              <a:srgbClr val="2E90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A79ADF4-A6B2-4463-99AE-84CA8932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498848"/>
            <a:ext cx="2990088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6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95FFB95-91BF-4755-B2B2-FF32515E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754880"/>
            <a:ext cx="29900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2E90FA"/>
                </a:solidFill>
                <a:latin typeface="Aptos Display"/>
                <a:ea typeface="Aptos Display"/>
                <a:cs typeface="Aptos Display"/>
              </a:rPr>
              <a:t>contract + request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EB744BF-C9DF-4032-9B58-BD8440C9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5175504"/>
            <a:ext cx="2990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>
                <a:solidFill>
                  <a:srgbClr val="475467"/>
                </a:solidFill>
                <a:latin typeface="Aptos"/>
                <a:ea typeface="Aptos"/>
                <a:cs typeface="Aptos"/>
              </a:rPr>
              <a:t>endpoint rules plus serialized API request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88B4A85-8910-4BEE-8F67-3A851CB9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279392"/>
            <a:ext cx="3429000" cy="114300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A897950-E8F3-410E-976B-90249C5D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4389120"/>
            <a:ext cx="64008" cy="92354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0A7B5"/>
          </a:solidFill>
          <a:ln xmlns:a="http://schemas.openxmlformats.org/drawingml/2006/main" w="12700">
            <a:solidFill>
              <a:srgbClr val="00A7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DDBCD0B-62D0-4425-8F67-12254827C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4498848"/>
            <a:ext cx="2990088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6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344FF48-451C-4042-9A13-6FD976A9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4754880"/>
            <a:ext cx="29900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0A7B5"/>
                </a:solidFill>
                <a:latin typeface="Aptos Display"/>
                <a:ea typeface="Aptos Display"/>
                <a:cs typeface="Aptos Display"/>
              </a:rPr>
              <a:t>multi-label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EC7D67E-42B6-4425-9E32-FD16005C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5175504"/>
            <a:ext cx="2990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>
                <a:solidFill>
                  <a:srgbClr val="475467"/>
                </a:solidFill>
                <a:latin typeface="Aptos"/>
                <a:ea typeface="Aptos"/>
                <a:cs typeface="Aptos"/>
              </a:rPr>
              <a:t>validity, error labels, severity bucket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6E21D37-D157-465B-960C-E81B2AB6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4279392"/>
            <a:ext cx="3429000" cy="114300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A2592484-579A-4179-8324-494AF043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4389120"/>
            <a:ext cx="64008" cy="92354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C63FF"/>
          </a:solidFill>
          <a:ln xmlns:a="http://schemas.openxmlformats.org/drawingml/2006/main" w="12700">
            <a:solidFill>
              <a:srgbClr val="6C63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1CE2F8A6-DD03-4E43-B257-3502D5DCC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4498848"/>
            <a:ext cx="2990088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6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CHALLENGE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47A0A47-8E89-46BB-BF33-A65F8659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4754880"/>
            <a:ext cx="29900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6C63FF"/>
                </a:solidFill>
                <a:latin typeface="Aptos Display"/>
                <a:ea typeface="Aptos Display"/>
                <a:cs typeface="Aptos Display"/>
              </a:rPr>
              <a:t>unseen families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A12D707-CC34-454B-BD51-19407DB1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5175504"/>
            <a:ext cx="2990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>
                <a:solidFill>
                  <a:srgbClr val="475467"/>
                </a:solidFill>
                <a:latin typeface="Aptos"/>
                <a:ea typeface="Aptos"/>
                <a:cs typeface="Aptos"/>
              </a:rPr>
              <a:t>held-out domains never used in training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93B4F4A-EAAA-48A9-8BE7-B7509629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10528"/>
            <a:ext cx="11155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EAEC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BA41B1CE-C54C-418A-BFF0-082F62B1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029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50">
                <a:solidFill>
                  <a:srgbClr val="98A2B3"/>
                </a:solidFill>
                <a:latin typeface="Aptos"/>
                <a:ea typeface="Aptos"/>
                <a:cs typeface="Aptos"/>
              </a:rPr>
              <a:t>Semantic API Request Diagnosis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104E80E-ACFA-465B-A27E-76F5C7B8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0" y="6547104"/>
            <a:ext cx="3200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50" b="1">
                <a:solidFill>
                  <a:srgbClr val="98A2B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963150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94A7036-7280-4C85-8D17-59DC8FF3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-731520"/>
            <a:ext cx="3474720" cy="347472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D1E9FF">
              <a:alpha val="45000"/>
            </a:srgbClr>
          </a:solidFill>
          <a:ln xmlns:a="http://schemas.openxmlformats.org/drawingml/2006/main" w="12700">
            <a:solidFill>
              <a:srgbClr val="D1E9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7EE2F27-B4C3-45AE-ACC7-A4EA0F7B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371600" y="5120640"/>
            <a:ext cx="2926080" cy="292608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E0EAFF">
              <a:alpha val="50000"/>
            </a:srgbClr>
          </a:solidFill>
          <a:ln xmlns:a="http://schemas.openxmlformats.org/drawingml/2006/main" w="12700">
            <a:solidFill>
              <a:srgbClr val="E0EA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D743887-F563-46BF-BFD7-A6804A7B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20624"/>
            <a:ext cx="1444752" cy="27432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D1E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9D8035D-7631-48BC-948F-8F812A47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5488"/>
            <a:ext cx="129844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80" b="1">
                <a:solidFill>
                  <a:srgbClr val="2E90FA"/>
                </a:solidFill>
                <a:latin typeface="Aptos"/>
                <a:ea typeface="Aptos"/>
                <a:cs typeface="Aptos"/>
              </a:rPr>
              <a:t>TASK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E3E212A-4A28-477B-A2BF-865A4B46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32104"/>
            <a:ext cx="88696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ML task framing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15BB44-F366-4C30-BFB3-3B4B4DA0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98448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467"/>
                </a:solidFill>
                <a:latin typeface="Aptos"/>
                <a:ea typeface="Aptos"/>
                <a:cs typeface="Aptos"/>
              </a:rPr>
              <a:t>Primary task: multi-label classification over API request error labels.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5B865F3-9B84-4AF5-AA7B-2136C81A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3090672" cy="192024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E13309E-8D21-4B5B-BBB0-A9C4422C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39696"/>
            <a:ext cx="64008" cy="170078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90FA"/>
          </a:solidFill>
          <a:ln xmlns:a="http://schemas.openxmlformats.org/drawingml/2006/main" w="12700">
            <a:solidFill>
              <a:srgbClr val="2E90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9810396-376A-4D4A-A721-CBFDC3F5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286000"/>
            <a:ext cx="1325880" cy="256032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FF8FF"/>
          </a:solidFill>
          <a:ln xmlns:a="http://schemas.openxmlformats.org/drawingml/2006/main" w="12700">
            <a:solidFill>
              <a:srgbClr val="EFF8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F370DB8-E70A-40A0-9BFE-D3DEA796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45436"/>
            <a:ext cx="1179576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20" b="1">
                <a:solidFill>
                  <a:srgbClr val="2E90FA"/>
                </a:solidFill>
                <a:latin typeface="Aptos"/>
                <a:ea typeface="Aptos"/>
                <a:cs typeface="Aptos"/>
              </a:rPr>
              <a:t>INPUT TEXT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B2634D7-97D9-4814-88F0-A92A28842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743200"/>
            <a:ext cx="2441448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endpoint description</a:t>
            </a:r>
          </a:p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required constraints</a:t>
            </a:r>
          </a:p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method / URL / auth</a:t>
            </a:r>
          </a:p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query + body fields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D728C90-455A-4468-A935-E4F5E2E8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9352" y="2889504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F5D0910-EA8D-464F-A28A-B761620D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029968"/>
            <a:ext cx="3182112" cy="192024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DE83C54-7543-4B42-A3D2-3FDC1728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139696"/>
            <a:ext cx="64008" cy="170078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0A7B5"/>
          </a:solidFill>
          <a:ln xmlns:a="http://schemas.openxmlformats.org/drawingml/2006/main" w="12700">
            <a:solidFill>
              <a:srgbClr val="00A7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B2FF921-4618-4EAA-A674-E0727554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286000"/>
            <a:ext cx="1691640" cy="256032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6FFFB"/>
          </a:solidFill>
          <a:ln xmlns:a="http://schemas.openxmlformats.org/drawingml/2006/main" w="12700">
            <a:solidFill>
              <a:srgbClr val="E6FFF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6256DFC-2595-4E66-B5B1-6DF6BF50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2312" y="2345436"/>
            <a:ext cx="1545336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2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LANGUAGE MODEL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67A994C-C78D-44BF-B137-90F27D48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304" y="2788920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Compare contract text</a:t>
            </a:r>
          </a:p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to request fields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7122932-86F5-4EA2-86C2-7982E8CB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304" y="3364992"/>
            <a:ext cx="2377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25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>
                <a:solidFill>
                  <a:srgbClr val="475467"/>
                </a:solidFill>
                <a:latin typeface="Aptos"/>
                <a:ea typeface="Aptos"/>
                <a:cs typeface="Aptos"/>
              </a:rPr>
              <a:t>The same request may contain more than one error.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79B1882-A5E0-4CCD-B7B0-F475A17E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2889504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BD7C1FFE-8996-493B-AB95-9C4B405D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029968"/>
            <a:ext cx="3182112" cy="192024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7A2396A-4E94-4AA6-B496-B8B72729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139696"/>
            <a:ext cx="64008" cy="170078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C63FF"/>
          </a:solidFill>
          <a:ln xmlns:a="http://schemas.openxmlformats.org/drawingml/2006/main" w="12700">
            <a:solidFill>
              <a:srgbClr val="6C63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6A0DAAB-567E-4B72-BCAA-CB8E1B86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8784" y="2286000"/>
            <a:ext cx="1874520" cy="256032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EEF4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F1BBE00-F23D-48DB-8173-DD5FAD4B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1936" y="2345436"/>
            <a:ext cx="1728216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2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STRUCTURED OUTPUT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ED66F44D-0213-46BD-B184-04F9786D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8784" y="2679192"/>
            <a:ext cx="2487168" cy="859536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7620">
            <a:solidFill>
              <a:srgbClr val="D0D5D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249011D-640E-4532-9501-6335A46D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825496"/>
            <a:ext cx="2157984" cy="6126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4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{</a:t>
            </a:r>
          </a:p>
          <a:p xmlns:a="http://schemas.openxmlformats.org/drawingml/2006/main">
            <a:pPr marL="0" indent="0">
              <a:buNone/>
            </a:pPr>
            <a:r>
              <a:rPr sz="74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  "validity": "invalid",</a:t>
            </a:r>
          </a:p>
          <a:p xmlns:a="http://schemas.openxmlformats.org/drawingml/2006/main">
            <a:pPr marL="0" indent="0">
              <a:buNone/>
            </a:pPr>
            <a:r>
              <a:rPr sz="74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  "error_labels": [...],</a:t>
            </a:r>
          </a:p>
          <a:p xmlns:a="http://schemas.openxmlformats.org/drawingml/2006/main">
            <a:pPr marL="0" indent="0">
              <a:buNone/>
            </a:pPr>
            <a:r>
              <a:rPr sz="74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  "severity_bucket": "high"</a:t>
            </a:r>
          </a:p>
          <a:p xmlns:a="http://schemas.openxmlformats.org/drawingml/2006/main">
            <a:pPr marL="0" indent="0">
              <a:buNone/>
            </a:pPr>
            <a:r>
              <a:rPr sz="74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E5C40ACA-C3B0-4854-B6E2-5E7BF1B8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4590288"/>
            <a:ext cx="9875520" cy="713232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7620">
            <a:solidFill>
              <a:srgbClr val="172033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D17745D-26A8-4AD3-8236-FC63BA1F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782312"/>
            <a:ext cx="128016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00A7B5"/>
                </a:solidFill>
                <a:latin typeface="Aptos"/>
                <a:ea typeface="Aptos"/>
                <a:cs typeface="Aptos"/>
              </a:rPr>
              <a:t>Design choice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B8796586-F1F5-4060-A115-AADCAF72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754880"/>
            <a:ext cx="7132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2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Multi-label classification, because one API request may contain several simultaneous errors.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D63B347-9664-455D-B2AF-4E87F59B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10528"/>
            <a:ext cx="11155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EAEC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BCC1D01-34FB-40A6-AB72-92E808B8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029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50">
                <a:solidFill>
                  <a:srgbClr val="98A2B3"/>
                </a:solidFill>
                <a:latin typeface="Aptos"/>
                <a:ea typeface="Aptos"/>
                <a:cs typeface="Aptos"/>
              </a:rPr>
              <a:t>Semantic API Request Diagnosis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BC68F64-0FFC-422B-8E4E-B7E43ED7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0" y="6547104"/>
            <a:ext cx="3200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50" b="1">
                <a:solidFill>
                  <a:srgbClr val="98A2B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002255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6F5CBAA-ABBB-4841-9F78-DBF3A101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-731520"/>
            <a:ext cx="3474720" cy="347472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D1E9FF">
              <a:alpha val="45000"/>
            </a:srgbClr>
          </a:solidFill>
          <a:ln xmlns:a="http://schemas.openxmlformats.org/drawingml/2006/main" w="12700">
            <a:solidFill>
              <a:srgbClr val="D1E9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CB0D803-BE55-436C-9CF9-619C7332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371600" y="5120640"/>
            <a:ext cx="2926080" cy="292608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E0EAFF">
              <a:alpha val="50000"/>
            </a:srgbClr>
          </a:solidFill>
          <a:ln xmlns:a="http://schemas.openxmlformats.org/drawingml/2006/main" w="12700">
            <a:solidFill>
              <a:srgbClr val="E0EA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E5D149E-8779-4FDF-A478-9CC3E770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20624"/>
            <a:ext cx="1444752" cy="27432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D1E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AD0EF8F-7C8D-4EC0-9AE8-0EA0A642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5488"/>
            <a:ext cx="129844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80" b="1">
                <a:solidFill>
                  <a:srgbClr val="2E90FA"/>
                </a:solidFill>
                <a:latin typeface="Aptos"/>
                <a:ea typeface="Aptos"/>
                <a:cs typeface="Aptos"/>
              </a:rPr>
              <a:t>TASK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073979A-6178-453B-84C1-0C7FEAEE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32104"/>
            <a:ext cx="88696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Label taxonomy: structural vs semantic errors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094871D-0D1D-47C3-B0A6-FA83A5FF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98448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75467"/>
                </a:solidFill>
                <a:latin typeface="Aptos"/>
                <a:ea typeface="Aptos"/>
                <a:cs typeface="Aptos"/>
              </a:rPr>
              <a:t>The taxonomy keeps the problem measurable and makes failure analysis possible.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83809B8-0575-42D4-863C-ED462A67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5349240" cy="3520440"/>
          </a:xfrm>
          <a:prstGeom xmlns:a="http://schemas.openxmlformats.org/drawingml/2006/main" prst="roundRect">
            <a:avLst>
              <a:gd name="adj" fmla="val 31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ECD6AD9-8084-4DA0-8F84-1814DF73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38528"/>
            <a:ext cx="64008" cy="330098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90FA"/>
          </a:solidFill>
          <a:ln xmlns:a="http://schemas.openxmlformats.org/drawingml/2006/main" w="12700">
            <a:solidFill>
              <a:srgbClr val="2E90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4DFF833-D119-4C75-9CE1-7B3B2D47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21408"/>
            <a:ext cx="466344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Structural / contract errors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D6A0261-8857-4491-BE5E-97BEAB85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42032"/>
            <a:ext cx="45720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20">
                <a:solidFill>
                  <a:srgbClr val="475467"/>
                </a:solidFill>
                <a:latin typeface="Aptos"/>
                <a:ea typeface="Aptos"/>
                <a:cs typeface="Aptos"/>
              </a:rPr>
              <a:t>Mostly visible from request syntax, structure, or simple field rules.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876C0D3-4007-48C7-A067-06AA2824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9232"/>
            <a:ext cx="4663440" cy="1444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1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missing_required_field</a:t>
            </a:r>
          </a:p>
          <a:p xmlns:a="http://schemas.openxmlformats.org/drawingml/2006/main">
            <a:pPr marL="0" indent="0">
              <a:buNone/>
            </a:pPr>
            <a:r>
              <a:rPr sz="81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wrong_type</a:t>
            </a:r>
          </a:p>
          <a:p xmlns:a="http://schemas.openxmlformats.org/drawingml/2006/main">
            <a:pPr marL="0" indent="0">
              <a:buNone/>
            </a:pPr>
            <a:r>
              <a:rPr sz="81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invalid_value_range</a:t>
            </a:r>
          </a:p>
          <a:p xmlns:a="http://schemas.openxmlformats.org/drawingml/2006/main">
            <a:pPr marL="0" indent="0">
              <a:buNone/>
            </a:pPr>
            <a:r>
              <a:rPr sz="81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malformed_url</a:t>
            </a:r>
          </a:p>
          <a:p xmlns:a="http://schemas.openxmlformats.org/drawingml/2006/main">
            <a:pPr marL="0" indent="0">
              <a:buNone/>
            </a:pPr>
            <a:r>
              <a:rPr sz="81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wrong_http_method</a:t>
            </a:r>
          </a:p>
          <a:p xmlns:a="http://schemas.openxmlformats.org/drawingml/2006/main">
            <a:pPr marL="0" indent="0">
              <a:buNone/>
            </a:pPr>
            <a:r>
              <a:rPr sz="81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missing_authentication</a:t>
            </a:r>
          </a:p>
          <a:p xmlns:a="http://schemas.openxmlformats.org/drawingml/2006/main">
            <a:pPr marL="0" indent="0">
              <a:buNone/>
            </a:pPr>
            <a:r>
              <a:rPr sz="81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unexpected_or_malformed_body_structure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7A35177-9393-43B7-8259-D2126DCA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828800"/>
            <a:ext cx="5166360" cy="3520440"/>
          </a:xfrm>
          <a:prstGeom xmlns:a="http://schemas.openxmlformats.org/drawingml/2006/main" prst="roundRect">
            <a:avLst>
              <a:gd name="adj" fmla="val 31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474DBC9-7F94-4342-BA92-3480A4F6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38528"/>
            <a:ext cx="64008" cy="3300984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0A7B5"/>
          </a:solidFill>
          <a:ln xmlns:a="http://schemas.openxmlformats.org/drawingml/2006/main" w="12700">
            <a:solidFill>
              <a:srgbClr val="00A7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3A0B55F-3CD1-4311-B256-EBF18A9E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2121408"/>
            <a:ext cx="4572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Semantic errors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FAD88AA-7D4A-4FAF-B250-2A8E8875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2542032"/>
            <a:ext cx="4434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20">
                <a:solidFill>
                  <a:srgbClr val="475467"/>
                </a:solidFill>
                <a:latin typeface="Aptos"/>
                <a:ea typeface="Aptos"/>
                <a:cs typeface="Aptos"/>
              </a:rPr>
              <a:t>Main NLP challenge: diagnose meaning using the endpoint contract.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D760DD2-D5C8-4601-99DC-26A608CE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2999232"/>
            <a:ext cx="438912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semantic_cross_field_violation</a:t>
            </a:r>
          </a:p>
          <a:p xmlns:a="http://schemas.openxmlformats.org/drawingml/2006/main">
            <a:pPr marL="0" indent="0">
              <a:buNone/>
            </a:pPr>
            <a:r>
              <a:rPr sz="92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semantic_domain_constraint_violation</a:t>
            </a:r>
          </a:p>
          <a:p xmlns:a="http://schemas.openxmlformats.org/drawingml/2006/main">
            <a:pPr marL="0" indent="0">
              <a:buNone/>
            </a:pPr>
            <a:r>
              <a:rPr sz="920">
                <a:solidFill>
                  <a:srgbClr val="475467"/>
                </a:solidFill>
                <a:latin typeface="Aptos"/>
                <a:ea typeface="Aptos"/>
                <a:cs typeface="Aptos"/>
              </a:rPr>
              <a:t>•  semantic_state_violation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5DFC3CF7-A77D-4886-9DCE-C8109591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4142232"/>
            <a:ext cx="4434840" cy="73152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7620">
            <a:solidFill>
              <a:srgbClr val="ABEFC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6ABB677-CE21-4107-9FF5-709DE9B3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315968"/>
            <a:ext cx="164592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80" b="1">
                <a:solidFill>
                  <a:srgbClr val="12B76A"/>
                </a:solidFill>
                <a:latin typeface="Aptos"/>
                <a:ea typeface="Aptos"/>
                <a:cs typeface="Aptos"/>
              </a:rPr>
              <a:t>Boundary rule example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B44C6C6-3887-4B8C-8162-17FD7231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553712"/>
            <a:ext cx="38221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60">
                <a:solidFill>
                  <a:srgbClr val="101828"/>
                </a:solidFill>
                <a:latin typeface="Aptos"/>
                <a:ea typeface="Aptos"/>
                <a:cs typeface="Aptos"/>
              </a:rPr>
              <a:t>missing compared field → missing_required_field, not semantic_cross_field_violation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161D8AF-FE9D-40D4-B950-2FB5A5E4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10528"/>
            <a:ext cx="11155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EAEC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BC5D7E3-4EA0-40E3-BEC8-8EF3B8FB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029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50">
                <a:solidFill>
                  <a:srgbClr val="98A2B3"/>
                </a:solidFill>
                <a:latin typeface="Aptos"/>
                <a:ea typeface="Aptos"/>
                <a:cs typeface="Aptos"/>
              </a:rPr>
              <a:t>Semantic API Request Diagnosis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0B90E3D-1A01-4477-88E4-DEF05820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0" y="6547104"/>
            <a:ext cx="3200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50" b="1">
                <a:solidFill>
                  <a:srgbClr val="98A2B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097155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C819ED9-8E9E-45A3-90D2-1BA2DCAC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-731520"/>
            <a:ext cx="3474720" cy="347472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D1E9FF">
              <a:alpha val="45000"/>
            </a:srgbClr>
          </a:solidFill>
          <a:ln xmlns:a="http://schemas.openxmlformats.org/drawingml/2006/main" w="12700">
            <a:solidFill>
              <a:srgbClr val="D1E9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9279B27-181A-469C-AAA0-723426EB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371600" y="5120640"/>
            <a:ext cx="2926080" cy="2926080"/>
          </a:xfrm>
          <a:prstGeom xmlns:a="http://schemas.openxmlformats.org/drawingml/2006/main" prst="arc">
            <a:avLst/>
          </a:prstGeom>
          <a:solidFill xmlns:a="http://schemas.openxmlformats.org/drawingml/2006/main">
            <a:srgbClr val="E0EAFF">
              <a:alpha val="50000"/>
            </a:srgbClr>
          </a:solidFill>
          <a:ln xmlns:a="http://schemas.openxmlformats.org/drawingml/2006/main" w="12700">
            <a:solidFill>
              <a:srgbClr val="E0EA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9FBE486-663A-4576-BDF7-DDD83C0F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20624"/>
            <a:ext cx="1444752" cy="27432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EF4FF"/>
          </a:solidFill>
          <a:ln xmlns:a="http://schemas.openxmlformats.org/drawingml/2006/main" w="12700">
            <a:solidFill>
              <a:srgbClr val="D1E9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C9504A3-3F66-45A5-8165-0995164A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5488"/>
            <a:ext cx="1298448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80" b="1">
                <a:solidFill>
                  <a:srgbClr val="2E90FA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C584A93-20A6-45BB-A1A4-A02D89AE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32104"/>
            <a:ext cx="88696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Controlled synthetic data generation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6EE636B-EEAA-475F-91F4-8C14DE43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298448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9">
                <a:solidFill>
                  <a:srgbClr val="64748B"/>
                </a:solidFill>
              </a:rPr>
              <a:t>LLM text generation creates varied contracts/scenarios; labels come from deterministic injection and hidden validators.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9184A05-AA83-4133-BEB6-BED2408A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3664"/>
            <a:ext cx="1847088" cy="1133856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4B9341D-8950-437F-9A03-E6E385C2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93392"/>
            <a:ext cx="64008" cy="914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E90FA"/>
          </a:solidFill>
          <a:ln xmlns:a="http://schemas.openxmlformats.org/drawingml/2006/main" w="12700">
            <a:solidFill>
              <a:srgbClr val="2E90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B7BB13A-C9F6-43D3-868E-93FE8FE5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213055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90FA"/>
          </a:solidFill>
          <a:ln xmlns:a="http://schemas.openxmlformats.org/drawingml/2006/main" w="12700">
            <a:solidFill>
              <a:srgbClr val="2E90F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8BEFE94-7BD6-415D-933E-63B8FA5D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21992"/>
            <a:ext cx="137160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C5929DD-EF15-411E-8D3F-533D34F0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4884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Define endpoint</a:t>
            </a:r>
          </a:p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family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3173C03-90F1-417C-B892-6BED675D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322576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7E94767-FAF5-43E1-8103-EE537469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512" y="1883664"/>
            <a:ext cx="1847088" cy="1133856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07AC4E2-0FF3-4842-9D0B-CD12E040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1993392"/>
            <a:ext cx="64008" cy="914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0A7B5"/>
          </a:solidFill>
          <a:ln xmlns:a="http://schemas.openxmlformats.org/drawingml/2006/main" w="12700">
            <a:solidFill>
              <a:srgbClr val="00A7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B900064-4AC6-4810-90B0-10610B9C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1256" y="213055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12700">
            <a:solidFill>
              <a:srgbClr val="00A7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5D3CD24-0F93-4D1B-80C8-75704368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6412" y="2221992"/>
            <a:ext cx="137160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6BDF815-980B-45FB-AB25-659DD64A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214884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Create valid</a:t>
            </a:r>
          </a:p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request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8AEDACF-47ED-46E0-98FC-379E9A2E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322576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24E3798B-4F19-4381-B855-D125A3CB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1224" y="1883664"/>
            <a:ext cx="1847088" cy="1133856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DBEC41C-9B70-4D32-80E9-E12A1B94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664" y="1993392"/>
            <a:ext cx="64008" cy="914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C63FF"/>
          </a:solidFill>
          <a:ln xmlns:a="http://schemas.openxmlformats.org/drawingml/2006/main" w="12700">
            <a:solidFill>
              <a:srgbClr val="6C63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F5FEA2D-EB86-4B17-9CFE-26343104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213055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C63FF"/>
          </a:solidFill>
          <a:ln xmlns:a="http://schemas.openxmlformats.org/drawingml/2006/main" w="12700">
            <a:solidFill>
              <a:srgbClr val="6C63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02B688E-00D8-4DC7-A4D1-881DB3D2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4124" y="2221992"/>
            <a:ext cx="137160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96CEC20-BDE2-4061-91DE-13A0CBA3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7024" y="214884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Inject controlled</a:t>
            </a:r>
          </a:p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error(s)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1B997A4-486D-44E9-9176-85C9A47C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1464" y="2322576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3BEC070-09C8-4C92-A156-F1862AA7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8936" y="1883664"/>
            <a:ext cx="1847088" cy="1133856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4A2C774-380C-4A3E-A2B6-75ECB0B2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76" y="1993392"/>
            <a:ext cx="64008" cy="914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79009"/>
          </a:solidFill>
          <a:ln xmlns:a="http://schemas.openxmlformats.org/drawingml/2006/main" w="12700">
            <a:solidFill>
              <a:srgbClr val="F7900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50982BF-A891-42B0-82E1-35B0FEFE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213055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12700">
            <a:solidFill>
              <a:srgbClr val="F7900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D948957-8E76-4F9C-B888-21ADA070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1836" y="2221992"/>
            <a:ext cx="137160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8AF2465-8AAB-4E4E-B570-D43A2BC2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14884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Hidden</a:t>
            </a:r>
          </a:p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validation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B38B4246-9700-4204-9153-4A7A31CB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322576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CC026DA0-0E97-4A6F-B6DD-BE5164AD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648" y="1883664"/>
            <a:ext cx="1847088" cy="1133856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4E7EC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DC7FD239-2564-481D-82A3-87546C0C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088" y="1993392"/>
            <a:ext cx="64008" cy="9144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2B76A"/>
          </a:solidFill>
          <a:ln xmlns:a="http://schemas.openxmlformats.org/drawingml/2006/main" w="12700">
            <a:solidFill>
              <a:srgbClr val="12B76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8EE2722C-C504-4FCF-A02B-35D96B25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213055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B76A"/>
          </a:solidFill>
          <a:ln xmlns:a="http://schemas.openxmlformats.org/drawingml/2006/main" w="12700">
            <a:solidFill>
              <a:srgbClr val="12B76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09DD62E4-9B3F-4EF2-86A1-02593C64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9548" y="2221992"/>
            <a:ext cx="137160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76C89578-6F81-4DDF-90B1-95BD383C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14884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Serialize</a:t>
            </a:r>
          </a:p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model input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4C5D6239-FBD4-4F0A-82B5-C73A3639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3320"/>
            <a:ext cx="5074920" cy="1481328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7620">
            <a:solidFill>
              <a:srgbClr val="D0D5DD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5A62A24A-F7BB-442F-A6D3-95ABFF8C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13048"/>
            <a:ext cx="64008" cy="126187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79009"/>
          </a:solidFill>
          <a:ln xmlns:a="http://schemas.openxmlformats.org/drawingml/2006/main" w="12700">
            <a:solidFill>
              <a:srgbClr val="F7900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1B8DE91-D093-41AE-AEFB-356C81E4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849624"/>
            <a:ext cx="4745736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4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Hidden validator example</a:t>
            </a:r>
          </a:p>
          <a:p xmlns:a="http://schemas.openxmlformats.org/drawingml/2006/main">
            <a:pPr marL="0" indent="0">
              <a:buNone/>
            </a:pPr>
            <a:r>
              <a:rPr sz="74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------------------------</a:t>
            </a:r>
          </a:p>
          <a:p xmlns:a="http://schemas.openxmlformats.org/drawingml/2006/main">
            <a:pPr marL="0" indent="0">
              <a:buNone/>
            </a:pPr>
            <a:r>
              <a:rPr sz="74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constraint_text: refund must not exceed payment</a:t>
            </a:r>
          </a:p>
          <a:p xmlns:a="http://schemas.openxmlformats.org/drawingml/2006/main">
            <a:pPr marL="0" indent="0">
              <a:buNone/>
            </a:pPr>
            <a:r>
              <a:rPr sz="74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fields: [refund_amount, original_payment]</a:t>
            </a:r>
          </a:p>
          <a:p xmlns:a="http://schemas.openxmlformats.org/drawingml/2006/main">
            <a:pPr marL="0" indent="0">
              <a:buNone/>
            </a:pPr>
            <a:r>
              <a:rPr sz="74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check: refund_amount &lt;= original_payment</a:t>
            </a:r>
          </a:p>
          <a:p xmlns:a="http://schemas.openxmlformats.org/drawingml/2006/main">
            <a:pPr marL="0" indent="0">
              <a:buNone/>
            </a:pPr>
            <a:r>
              <a:rPr sz="740">
                <a:solidFill>
                  <a:srgbClr val="101828"/>
                </a:solidFill>
                <a:latin typeface="Courier New"/>
                <a:ea typeface="Courier New"/>
                <a:cs typeface="Courier New"/>
              </a:rPr>
              <a:t>severity: high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D9C4676-ADA2-4B7C-8CAE-4190AB7C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703320"/>
            <a:ext cx="5376672" cy="1481328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7620">
            <a:solidFill>
              <a:srgbClr val="B9E6FE"/>
            </a:solidFill>
            <a:prstDash val="solid"/>
          </a:ln>
          <a:effectLst xmlns:a="http://schemas.openxmlformats.org/drawingml/2006/main">
            <a:outerShdw blurRad="19050" dist="50800" dir="2700000" algn="bl" rotWithShape="0">
              <a:srgbClr val="101828">
                <a:alpha val="7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B80D6173-2CB6-459D-8640-0A81EF78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813048"/>
            <a:ext cx="64008" cy="126187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0A7B5"/>
          </a:solidFill>
          <a:ln xmlns:a="http://schemas.openxmlformats.org/drawingml/2006/main" w="12700">
            <a:solidFill>
              <a:srgbClr val="00A7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AE9BD6D2-828F-435B-A9F1-7939CA8B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50208"/>
            <a:ext cx="475488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b="1">
                <a:solidFill>
                  <a:srgbClr val="F59E0B"/>
                </a:solidFill>
              </a:defRPr>
            </a:pPr>
            <a:r>
              <a:rPr sz="1300" b="1">
                <a:solidFill>
                  <a:srgbClr val="F59E0B"/>
                </a:solidFill>
              </a:rPr>
              <a:t>Where the LLM is used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04D442CF-521E-4623-BA31-7B55B2B7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70832"/>
            <a:ext cx="4617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2500" lnSpcReduction="10000"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000">
                <a:solidFill>
                  <a:srgbClr val="0F172A"/>
                </a:solidFill>
              </a:defRPr>
            </a:pPr>
            <a:r>
              <a:rPr sz="1000">
                <a:solidFill>
                  <a:srgbClr val="0F172A"/>
                </a:solidFill>
              </a:rPr>
              <a:t>• LLM generates/paraphrases endpoint contracts and request scenarios</a:t>
            </a:r>
            <a:br/>
            <a:r>
              <a:rPr sz="1000">
                <a:solidFill>
                  <a:srgbClr val="0F172A"/>
                </a:solidFill>
              </a:rPr>
              <a:t>• deterministic injectors add controlled errors</a:t>
            </a:r>
            <a:br/>
            <a:r>
              <a:rPr sz="1000">
                <a:solidFill>
                  <a:srgbClr val="0F172A"/>
                </a:solidFill>
              </a:rPr>
              <a:t>• hidden validators assign labels and severity</a:t>
            </a:r>
            <a:br/>
            <a:r>
              <a:rPr sz="1000">
                <a:solidFill>
                  <a:srgbClr val="0F172A"/>
                </a:solidFill>
              </a:rPr>
              <a:t>• the model never receives hidden validator logic</a:t>
            </a:r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4A73E38F-FE85-48F3-A7E6-BF33151C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10528"/>
            <a:ext cx="11155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EAEC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D4936A38-BC99-4C1D-8CC7-68169C41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029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50">
                <a:solidFill>
                  <a:srgbClr val="98A2B3"/>
                </a:solidFill>
                <a:latin typeface="Aptos"/>
                <a:ea typeface="Aptos"/>
                <a:cs typeface="Aptos"/>
              </a:rPr>
              <a:t>Semantic API Request Diagnosis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ACBCE375-A628-4AE6-B441-C4E867D4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0" y="6547104"/>
            <a:ext cx="3200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650" b="1">
                <a:solidFill>
                  <a:srgbClr val="98A2B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360894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A7B2455-1657-4F61-9498-B523E6C1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0"/>
            <a:ext cx="77724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Oval 2">
            <a:extLst xmlns:a="http://schemas.openxmlformats.org/drawingml/2006/main">
              <a:ext uri="{FF2B5EF4-FFF2-40B4-BE49-F238E27FC236}">
                <a16:creationId xmlns:a16="http://schemas.microsoft.com/office/drawing/2014/main" id="{B24218BD-5232-4D01-87F4-5EB6B6AD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21792" y="589788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B7325E8D-D4F2-40CB-B760-B0F11CA1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5855" y="6126480"/>
            <a:ext cx="1005840" cy="1005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82BC81A7-F3AC-4CD6-8A37-98C1FB82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"/>
            <a:ext cx="841248" cy="2194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700">
            <a:solidFill>
              <a:srgbClr val="D7EA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D13DF67-0C04-4F4D-9F21-B4AA3D77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57200"/>
            <a:ext cx="768096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" b="1" i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DATA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81C08D-CE6F-4E72-9FA2-FF8BD4A2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Dataset coverage and final splits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1141F61-C180-499A-A2F8-1C5CBD09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070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9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The hard subsets are test-only diagnostic slices; training still uses only seen endpoint families.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6466FA1-E294-47C2-970B-DB99EAD4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8775" y="6537960"/>
            <a:ext cx="22860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550" b="1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08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28EE961-04E6-4AC5-A003-EDA16373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47104"/>
            <a:ext cx="256032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" b="0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Semantic API Request Diagnosis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DA6A45C-7566-4C27-AB6B-CF6F97F0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" y="1458468"/>
            <a:ext cx="233172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CD1611EC-FA7A-44FB-B9C9-D42FD5C7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233172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F2519F5-159E-4561-A8C8-865FCB37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5029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132CFF1-2D69-490E-BA02-25F4CFAE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1554480"/>
            <a:ext cx="2057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TOTAL EXAMPLES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068C20F-54EF-4CA8-888E-C0628911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1746504"/>
            <a:ext cx="2057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4,900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FEEF114-71BD-47A3-9DDE-74005F39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139696"/>
            <a:ext cx="20391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final generated examples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0983A445-D3DB-48F0-B6E4-30C241EA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124" y="1458468"/>
            <a:ext cx="233172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8F9C0F2-1AFC-4AAB-9529-BD3351A2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417320"/>
            <a:ext cx="233172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0FDFA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BF508C16-0E26-4BBB-8D1E-4EA3DA30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417320"/>
            <a:ext cx="5029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D000370-31A1-4478-BBB0-9A2040FE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1554480"/>
            <a:ext cx="2057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t>ENDPOINT FAMILIES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7544231-7DBF-4661-9F8E-DB60A3D2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1746504"/>
            <a:ext cx="2057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10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E16FA25-826C-4F1F-BEEF-965860FB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139696"/>
            <a:ext cx="20391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5 seen + 5 held-out unseen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632FA5A3-706F-4983-A921-5FE11A9D4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5876" y="1458468"/>
            <a:ext cx="233172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E8EAF0FC-C064-4B26-BD21-4A1BAA29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1417320"/>
            <a:ext cx="233172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3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92CA200-017E-4DF5-BD67-4CC8CA30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1417320"/>
            <a:ext cx="5029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A9BDC5B-0C9F-439C-842B-13EEBEAF2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464" y="1554480"/>
            <a:ext cx="2057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t>FINAL SPLITS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A78A38FF-5BEE-4EE9-B177-703614C1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464" y="1746504"/>
            <a:ext cx="2057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4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EC47E59-A479-4E92-83A6-45B9FE72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464" y="2139696"/>
            <a:ext cx="20391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train, validation, seen, unseen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ACD7FF89-6733-4216-8F6A-21144EB4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2772" y="1458468"/>
            <a:ext cx="269748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AB3C11DF-BEFD-42C0-ABAA-5EC4707F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417320"/>
            <a:ext cx="269748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905067D3-BAD9-4776-81B6-DEDF1B45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417320"/>
            <a:ext cx="50292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60B5D2C4-B972-44A1-8A0D-4B625BD2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1554480"/>
            <a:ext cx="2423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HARD SUBSET EXAMPLES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E7F26EAE-8D49-4F53-83D7-2063187B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1746504"/>
            <a:ext cx="2423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336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EA40038F-032F-4165-A244-64048952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2139696"/>
            <a:ext cx="240487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test-only: 175 seen + 161 unseen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95F2DA55-868B-485A-93D2-081B4834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" y="2784348"/>
            <a:ext cx="5440680" cy="2057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2023D7B2-ECB0-4A71-9B15-D7064F88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43200"/>
            <a:ext cx="5440680" cy="2057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653767FD-A203-4E88-AF0B-258BBB1D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4892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Frozen Version 1 splits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43548679-2B3A-4440-B2E3-B371130F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246120"/>
            <a:ext cx="1975104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1F29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C8E448D6-B4A3-4ABF-BEEB-1F149514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9272"/>
            <a:ext cx="1901952" cy="1737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split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C8402A03-85CC-4CF4-B81A-E5F2C822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3246120"/>
            <a:ext cx="1086307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1F29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F0A08FC0-8538-4374-B3F7-1A60F6E5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319272"/>
            <a:ext cx="1013155" cy="1737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examples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778C93C4-BF80-434E-B297-F18D7242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7523" y="3246120"/>
            <a:ext cx="1876348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1F29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DBE8F064-CDB7-49DA-AC23-6F83188E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4099" y="3319272"/>
            <a:ext cx="1803196" cy="17373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families</a:t>
            </a:r>
          </a:p>
        </p:txBody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0B6CE645-8DCA-43DE-B577-8BA112B6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11296"/>
            <a:ext cx="1975104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68550083-161E-478E-A30C-F48ECD9F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561588"/>
            <a:ext cx="1901952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train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AF51E314-3F92-4E39-8953-6EDCA42F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3511296"/>
            <a:ext cx="1086307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2B3AB48F-2748-4F40-B564-0F8771A9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561588"/>
            <a:ext cx="1013155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3000</a:t>
            </a: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D48629DF-967F-4816-B850-2A8B0ABB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7523" y="3511296"/>
            <a:ext cx="1876348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1058CEEC-5945-479A-B405-1EB68C60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4099" y="3561588"/>
            <a:ext cx="1803196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seen only</a:t>
            </a:r>
          </a:p>
        </p:txBody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FDF02275-8193-404B-B9BF-AC2ECD50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776472"/>
            <a:ext cx="1975104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C02FD06C-95AE-4791-8C70-6EDFB0F2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826763"/>
            <a:ext cx="1901952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validation</a:t>
            </a:r>
          </a:p>
        </p:txBody>
      </p:sp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458EAD2D-6D17-4D54-9C3C-0C725545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3776472"/>
            <a:ext cx="1086307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600906D1-C7C7-431D-A8E9-D9B8B5A8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826763"/>
            <a:ext cx="1013155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500</a:t>
            </a:r>
          </a:p>
        </p:txBody>
      </p:sp>
      <p:sp>
        <p:nvSpPr>
          <p:cNvPr id="54" name="Rectangle 53">
            <a:extLst xmlns:a="http://schemas.openxmlformats.org/drawingml/2006/main">
              <a:ext uri="{FF2B5EF4-FFF2-40B4-BE49-F238E27FC236}">
                <a16:creationId xmlns:a16="http://schemas.microsoft.com/office/drawing/2014/main" id="{58A4114C-CAFE-46CB-921E-1A00D36C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7523" y="3776472"/>
            <a:ext cx="1876348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BEAC303E-20E4-4CC1-A314-9193AF05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4099" y="3826763"/>
            <a:ext cx="1803196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seen only</a:t>
            </a:r>
          </a:p>
        </p:txBody>
      </p:sp>
      <p:sp>
        <p:nvSpPr>
          <p:cNvPr id="56" name="Rectangle 55">
            <a:extLst xmlns:a="http://schemas.openxmlformats.org/drawingml/2006/main">
              <a:ext uri="{FF2B5EF4-FFF2-40B4-BE49-F238E27FC236}">
                <a16:creationId xmlns:a16="http://schemas.microsoft.com/office/drawing/2014/main" id="{ABCB467D-01CF-4121-80FD-25686FB9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41648"/>
            <a:ext cx="1975104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6D2173E0-E98D-467B-9CD1-E954E250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091939"/>
            <a:ext cx="1901952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seen_test</a:t>
            </a:r>
          </a:p>
        </p:txBody>
      </p:sp>
      <p:sp>
        <p:nvSpPr>
          <p:cNvPr id="58" name="Rectangle 57">
            <a:extLst xmlns:a="http://schemas.openxmlformats.org/drawingml/2006/main">
              <a:ext uri="{FF2B5EF4-FFF2-40B4-BE49-F238E27FC236}">
                <a16:creationId xmlns:a16="http://schemas.microsoft.com/office/drawing/2014/main" id="{13B7F023-6A12-43BE-82DE-E4774480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4041648"/>
            <a:ext cx="1086307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B1ADBD7D-8FD3-4D9C-9C59-0D5AD417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91939"/>
            <a:ext cx="1013155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700</a:t>
            </a:r>
          </a:p>
        </p:txBody>
      </p:sp>
      <p:sp>
        <p:nvSpPr>
          <p:cNvPr id="60" name="Rectangle 59">
            <a:extLst xmlns:a="http://schemas.openxmlformats.org/drawingml/2006/main">
              <a:ext uri="{FF2B5EF4-FFF2-40B4-BE49-F238E27FC236}">
                <a16:creationId xmlns:a16="http://schemas.microsoft.com/office/drawing/2014/main" id="{14D56814-D81B-4BC7-ACA7-3D537F75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7523" y="4041648"/>
            <a:ext cx="1876348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1" name="TextBox 60">
            <a:extLst xmlns:a="http://schemas.openxmlformats.org/drawingml/2006/main">
              <a:ext uri="{FF2B5EF4-FFF2-40B4-BE49-F238E27FC236}">
                <a16:creationId xmlns:a16="http://schemas.microsoft.com/office/drawing/2014/main" id="{F3B6D684-E430-4702-835E-93D35D91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4099" y="4091939"/>
            <a:ext cx="1803196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seen only</a:t>
            </a:r>
          </a:p>
        </p:txBody>
      </p:sp>
      <p:sp>
        <p:nvSpPr>
          <p:cNvPr id="62" name="Rectangle 61">
            <a:extLst xmlns:a="http://schemas.openxmlformats.org/drawingml/2006/main">
              <a:ext uri="{FF2B5EF4-FFF2-40B4-BE49-F238E27FC236}">
                <a16:creationId xmlns:a16="http://schemas.microsoft.com/office/drawing/2014/main" id="{21D822A9-CCF0-4DE4-8783-8E075857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06824"/>
            <a:ext cx="1975104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3" name="TextBox 62">
            <a:extLst xmlns:a="http://schemas.openxmlformats.org/drawingml/2006/main">
              <a:ext uri="{FF2B5EF4-FFF2-40B4-BE49-F238E27FC236}">
                <a16:creationId xmlns:a16="http://schemas.microsoft.com/office/drawing/2014/main" id="{655382EE-B5CB-4D7D-8B73-7AB8183A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357116"/>
            <a:ext cx="1901952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unseen_family_test</a:t>
            </a:r>
          </a:p>
        </p:txBody>
      </p:sp>
      <p:sp>
        <p:nvSpPr>
          <p:cNvPr id="64" name="Rectangle 63">
            <a:extLst xmlns:a="http://schemas.openxmlformats.org/drawingml/2006/main">
              <a:ext uri="{FF2B5EF4-FFF2-40B4-BE49-F238E27FC236}">
                <a16:creationId xmlns:a16="http://schemas.microsoft.com/office/drawing/2014/main" id="{E8652F6F-E92C-4C6A-B064-097C4CDA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4306824"/>
            <a:ext cx="1086307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5" name="TextBox 64">
            <a:extLst xmlns:a="http://schemas.openxmlformats.org/drawingml/2006/main">
              <a:ext uri="{FF2B5EF4-FFF2-40B4-BE49-F238E27FC236}">
                <a16:creationId xmlns:a16="http://schemas.microsoft.com/office/drawing/2014/main" id="{9D721022-6867-43EF-BA99-18322997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357116"/>
            <a:ext cx="1013155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700</a:t>
            </a:r>
          </a:p>
        </p:txBody>
      </p:sp>
      <p:sp>
        <p:nvSpPr>
          <p:cNvPr id="66" name="Rectangle 65">
            <a:extLst xmlns:a="http://schemas.openxmlformats.org/drawingml/2006/main">
              <a:ext uri="{FF2B5EF4-FFF2-40B4-BE49-F238E27FC236}">
                <a16:creationId xmlns:a16="http://schemas.microsoft.com/office/drawing/2014/main" id="{70A3592A-5403-431F-9362-77025A0D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7523" y="4306824"/>
            <a:ext cx="1876348" cy="2651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7" name="TextBox 66">
            <a:extLst xmlns:a="http://schemas.openxmlformats.org/drawingml/2006/main">
              <a:ext uri="{FF2B5EF4-FFF2-40B4-BE49-F238E27FC236}">
                <a16:creationId xmlns:a16="http://schemas.microsoft.com/office/drawing/2014/main" id="{1FA27E66-9CB6-4CBA-BA17-3EDB1011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4099" y="4357116"/>
            <a:ext cx="1803196" cy="1920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9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held-out unseen only</a:t>
            </a:r>
          </a:p>
        </p:txBody>
      </p:sp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1202EDC1-CDCB-4A90-9F30-36C28B11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244" y="2784348"/>
            <a:ext cx="2331720" cy="2057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9" name="Rounded Rectangle 68">
            <a:extLst xmlns:a="http://schemas.openxmlformats.org/drawingml/2006/main">
              <a:ext uri="{FF2B5EF4-FFF2-40B4-BE49-F238E27FC236}">
                <a16:creationId xmlns:a16="http://schemas.microsoft.com/office/drawing/2014/main" id="{213B6701-B5F0-41A3-9EC1-0A155B2E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743200"/>
            <a:ext cx="2331720" cy="2057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0" name="Rectangle 69">
            <a:extLst xmlns:a="http://schemas.openxmlformats.org/drawingml/2006/main">
              <a:ext uri="{FF2B5EF4-FFF2-40B4-BE49-F238E27FC236}">
                <a16:creationId xmlns:a16="http://schemas.microsoft.com/office/drawing/2014/main" id="{5F741D77-0112-45B5-9BBA-D551BB59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743200"/>
            <a:ext cx="50292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1" name="TextBox 70">
            <a:extLst xmlns:a="http://schemas.openxmlformats.org/drawingml/2006/main">
              <a:ext uri="{FF2B5EF4-FFF2-40B4-BE49-F238E27FC236}">
                <a16:creationId xmlns:a16="http://schemas.microsoft.com/office/drawing/2014/main" id="{FE536F67-1897-427E-9051-D9085E35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1" y="2871216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Seen families</a:t>
            </a:r>
          </a:p>
        </p:txBody>
      </p:sp>
      <p:sp>
        <p:nvSpPr>
          <p:cNvPr id="72" name="TextBox 71">
            <a:extLst xmlns:a="http://schemas.openxmlformats.org/drawingml/2006/main">
              <a:ext uri="{FF2B5EF4-FFF2-40B4-BE49-F238E27FC236}">
                <a16:creationId xmlns:a16="http://schemas.microsoft.com/office/drawing/2014/main" id="{A16327CB-DD44-4D95-89E2-1E9F1E97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182112"/>
            <a:ext cx="1947672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19">
                <a:solidFill>
                  <a:srgbClr val="475569"/>
                </a:solidFill>
              </a:rPr>
              <a:t>• 5 training-domain families</a:t>
            </a:r>
            <a:br/>
            <a:r>
              <a:rPr sz="819">
                <a:solidFill>
                  <a:srgbClr val="475569"/>
                </a:solidFill>
              </a:rPr>
              <a:t>• used in train / validation / seen_test</a:t>
            </a:r>
            <a:br/>
            <a:r>
              <a:rPr sz="819">
                <a:solidFill>
                  <a:srgbClr val="475569"/>
                </a:solidFill>
              </a:rPr>
              <a:t>• examples: refunds, bookings, invoices</a:t>
            </a:r>
          </a:p>
        </p:txBody>
      </p:sp>
      <p:sp>
        <p:nvSpPr>
          <p:cNvPr id="73" name="Rounded Rectangle 72">
            <a:extLst xmlns:a="http://schemas.openxmlformats.org/drawingml/2006/main">
              <a:ext uri="{FF2B5EF4-FFF2-40B4-BE49-F238E27FC236}">
                <a16:creationId xmlns:a16="http://schemas.microsoft.com/office/drawing/2014/main" id="{AB230791-8CDA-4EC8-BC2F-ED8B6C2B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0284" y="2784348"/>
            <a:ext cx="2331720" cy="2057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4" name="Rounded Rectangle 73">
            <a:extLst xmlns:a="http://schemas.openxmlformats.org/drawingml/2006/main">
              <a:ext uri="{FF2B5EF4-FFF2-40B4-BE49-F238E27FC236}">
                <a16:creationId xmlns:a16="http://schemas.microsoft.com/office/drawing/2014/main" id="{F845BB33-D7E9-4244-88FD-C0FF4F59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2743200"/>
            <a:ext cx="2331720" cy="2057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3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5" name="Rectangle 74">
            <a:extLst xmlns:a="http://schemas.openxmlformats.org/drawingml/2006/main">
              <a:ext uri="{FF2B5EF4-FFF2-40B4-BE49-F238E27FC236}">
                <a16:creationId xmlns:a16="http://schemas.microsoft.com/office/drawing/2014/main" id="{C1621965-0D59-4DC6-9192-0BFA8772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2743200"/>
            <a:ext cx="50292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6" name="TextBox 75">
            <a:extLst xmlns:a="http://schemas.openxmlformats.org/drawingml/2006/main">
              <a:ext uri="{FF2B5EF4-FFF2-40B4-BE49-F238E27FC236}">
                <a16:creationId xmlns:a16="http://schemas.microsoft.com/office/drawing/2014/main" id="{4E0BBA2C-DD8A-40F5-BB24-0DF0D377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2871216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Held-out unseen families</a:t>
            </a:r>
          </a:p>
        </p:txBody>
      </p:sp>
      <p:sp>
        <p:nvSpPr>
          <p:cNvPr id="77" name="TextBox 76">
            <a:extLst xmlns:a="http://schemas.openxmlformats.org/drawingml/2006/main">
              <a:ext uri="{FF2B5EF4-FFF2-40B4-BE49-F238E27FC236}">
                <a16:creationId xmlns:a16="http://schemas.microsoft.com/office/drawing/2014/main" id="{1466FA52-A03B-409F-ACA0-520BA1B7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59" y="3182112"/>
            <a:ext cx="1947672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19">
                <a:solidFill>
                  <a:srgbClr val="475569"/>
                </a:solidFill>
              </a:rPr>
              <a:t>• 5 held-out endpoint families</a:t>
            </a:r>
            <a:br/>
            <a:r>
              <a:rPr sz="819">
                <a:solidFill>
                  <a:srgbClr val="475569"/>
                </a:solidFill>
              </a:rPr>
              <a:t>• used only in unseen_family_test</a:t>
            </a:r>
            <a:br/>
            <a:r>
              <a:rPr sz="819">
                <a:solidFill>
                  <a:srgbClr val="475569"/>
                </a:solidFill>
              </a:rPr>
              <a:t>• examples: healthcare, courses, shipping</a:t>
            </a:r>
          </a:p>
        </p:txBody>
      </p:sp>
      <p:sp>
        <p:nvSpPr>
          <p:cNvPr id="78" name="Rounded Rectangle 77">
            <a:extLst xmlns:a="http://schemas.openxmlformats.org/drawingml/2006/main">
              <a:ext uri="{FF2B5EF4-FFF2-40B4-BE49-F238E27FC236}">
                <a16:creationId xmlns:a16="http://schemas.microsoft.com/office/drawing/2014/main" id="{5F678BE9-3926-4B2A-89B3-CFC7FFC2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" y="5326380"/>
            <a:ext cx="10058400" cy="6217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974FE1ED-66B6-4D75-82A1-E42EB609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285232"/>
            <a:ext cx="10058400" cy="6217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0" name="TextBox 79">
            <a:extLst xmlns:a="http://schemas.openxmlformats.org/drawingml/2006/main">
              <a:ext uri="{FF2B5EF4-FFF2-40B4-BE49-F238E27FC236}">
                <a16:creationId xmlns:a16="http://schemas.microsoft.com/office/drawing/2014/main" id="{725BC842-2BFD-4949-97DC-1D11856D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86400"/>
            <a:ext cx="150876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19" b="1" i="0">
                <a:solidFill>
                  <a:srgbClr val="06B6D4"/>
                </a:solidFill>
                <a:latin typeface="Aptos"/>
                <a:ea typeface="Aptos"/>
                <a:cs typeface="Aptos"/>
              </a:defRPr>
            </a:pPr>
            <a:r>
              <a:t>Why this split matters:</a:t>
            </a:r>
          </a:p>
        </p:txBody>
      </p:sp>
      <p:sp>
        <p:nvSpPr>
          <p:cNvPr id="81" name="TextBox 80">
            <a:extLst xmlns:a="http://schemas.openxmlformats.org/drawingml/2006/main">
              <a:ext uri="{FF2B5EF4-FFF2-40B4-BE49-F238E27FC236}">
                <a16:creationId xmlns:a16="http://schemas.microsoft.com/office/drawing/2014/main" id="{89509062-47B7-43D7-A4BB-E2117BCE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449824"/>
            <a:ext cx="8046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69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unseen_family_test checks whether the model learned transferable constraint reasoning, not endpoint-family memorization.</a:t>
            </a:r>
          </a:p>
        </p:txBody>
      </p:sp>
    </p:spTree>
    <p:extLst>
      <p:ext uri="{BB962C8B-B14F-4D97-AF65-F5344CB8AC3E}">
        <p14:creationId xmlns:p14="http://schemas.microsoft.com/office/powerpoint/2010/main" val="8572372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0840B99-64E1-4474-9D2C-B76D7E45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0"/>
            <a:ext cx="77724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Oval 2">
            <a:extLst xmlns:a="http://schemas.openxmlformats.org/drawingml/2006/main">
              <a:ext uri="{FF2B5EF4-FFF2-40B4-BE49-F238E27FC236}">
                <a16:creationId xmlns:a16="http://schemas.microsoft.com/office/drawing/2014/main" id="{C0259F57-4A23-4417-B3C0-94A8C7A1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21792" y="589788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6DD37402-B417-4CBA-89F0-9A799057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5855" y="6126480"/>
            <a:ext cx="1005840" cy="1005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DECFDDF4-261F-45B3-82AA-87BCBE9B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"/>
            <a:ext cx="841248" cy="2194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700">
            <a:solidFill>
              <a:srgbClr val="D7EA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1248D3-07BB-4F64-96B2-19FC630E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57200"/>
            <a:ext cx="768096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" b="1" i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DATA QUALITY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1B11DDF-0F34-4A3D-BFF2-3ABBFB85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Quality gates plus test-set composition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7F51426-77F6-4268-8D7E-78CED619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070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9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This slide keeps the audit story and adds a compact test-set distribution view.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A47F293-160C-433A-A09E-8DD727BA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8775" y="6537960"/>
            <a:ext cx="22860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550" b="1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09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013E7AE-65AD-49C8-B9FD-B410873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47104"/>
            <a:ext cx="256032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" b="0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Semantic API Request Diagnosis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7551165-9E40-485B-A443-797AB32A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" y="1412748"/>
            <a:ext cx="4800600" cy="2788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67EA62B-6F9C-4A48-8AF8-3B921BC6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71600"/>
            <a:ext cx="4800600" cy="2788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A010DD0-0C88-4A64-95B2-684600FD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54480"/>
            <a:ext cx="4297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Quality gates passed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AF6A8584-5BB9-445A-8D8D-99D2E872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1933956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BB6BDD1-B39A-4FE0-9507-1C6E3A53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3" y="1920240"/>
            <a:ext cx="109728" cy="548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2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6A5DB86-EC15-4650-B997-19B31576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15668"/>
            <a:ext cx="3977639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7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all labels appear in every split</a:t>
            </a:r>
          </a:p>
        </p:txBody>
      </p:sp>
      <p:sp>
        <p:nvSpPr>
          <p:cNvPr id="17" name="Oval 16">
            <a:extLst xmlns:a="http://schemas.openxmlformats.org/drawingml/2006/main">
              <a:ext uri="{FF2B5EF4-FFF2-40B4-BE49-F238E27FC236}">
                <a16:creationId xmlns:a16="http://schemas.microsoft.com/office/drawing/2014/main" id="{B61C6D74-54FE-43C1-BE2F-83C6AD19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263140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27BC9D9-B291-48DA-8389-CC5D28DF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3" y="2249424"/>
            <a:ext cx="109728" cy="548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2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C60A8C6-AF95-406D-923A-CD6D695DF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4852"/>
            <a:ext cx="3977639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7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all semantic labels appear in every split</a:t>
            </a:r>
          </a:p>
        </p:txBody>
      </p:sp>
      <p:sp>
        <p:nvSpPr>
          <p:cNvPr id="20" name="Oval 19">
            <a:extLst xmlns:a="http://schemas.openxmlformats.org/drawingml/2006/main">
              <a:ext uri="{FF2B5EF4-FFF2-40B4-BE49-F238E27FC236}">
                <a16:creationId xmlns:a16="http://schemas.microsoft.com/office/drawing/2014/main" id="{878F5191-FCBD-4DC9-A289-63992D33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592324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E84B60F-7313-4770-987F-3813DF22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3" y="2578608"/>
            <a:ext cx="109728" cy="548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2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CF29CF5-2BFD-458E-A064-9965CE37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74036"/>
            <a:ext cx="3977639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7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0 exact duplicate serialized inputs across splits</a:t>
            </a:r>
          </a:p>
        </p:txBody>
      </p:sp>
      <p:sp>
        <p:nvSpPr>
          <p:cNvPr id="23" name="Oval 22">
            <a:extLst xmlns:a="http://schemas.openxmlformats.org/drawingml/2006/main">
              <a:ext uri="{FF2B5EF4-FFF2-40B4-BE49-F238E27FC236}">
                <a16:creationId xmlns:a16="http://schemas.microsoft.com/office/drawing/2014/main" id="{86D2FDC6-80DA-4F84-8C3D-72BD099F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921508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CDCD4D2-0FE2-49FC-B16D-74D705F1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3" y="2907791"/>
            <a:ext cx="109728" cy="548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2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B56CD56-83CE-4C80-A733-40B00D7F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03220"/>
            <a:ext cx="3977639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7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0 near-duplicate serialized inputs across splits</a:t>
            </a:r>
          </a:p>
        </p:txBody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1A37CC7C-08A6-4CDF-BF7B-A1ED6E41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250691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849E8A5-8782-4E3D-83F0-DF631B7A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3" y="3236975"/>
            <a:ext cx="109728" cy="548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2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B7BF8E15-98CD-4274-B461-3504DB1F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32403"/>
            <a:ext cx="3977639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7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no seen/unseen family leakage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D3EAB93D-5ECE-4F37-82A2-3C06B649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579875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CFD16AB1-CBE3-4C20-BD8A-BEA240B8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3" y="3566159"/>
            <a:ext cx="109728" cy="548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2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AD14EF8-37B8-451B-ABEE-CC234E5C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1587"/>
            <a:ext cx="3977639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7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hidden validator exposure checks passed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446661B5-9A9B-45F4-A982-37CE7FED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444" y="1412748"/>
            <a:ext cx="5532120" cy="21214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AF36F4F4-144A-4897-931F-246ED794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371600"/>
            <a:ext cx="5532120" cy="21214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D5861AAE-A544-4F6C-87AF-EF9EF24B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7" y="1527048"/>
            <a:ext cx="5129783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Test-set composition by shortcut/dependence bucket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80F4CE68-BF6E-4A93-80B8-D9393A70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039112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seen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A84E71A3-549D-4C5C-B820-006071A8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79" y="1965960"/>
            <a:ext cx="973698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68963707-2CA5-4E71-A680-4EB23F66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79" y="2061972"/>
            <a:ext cx="973698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23%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CC55E5C4-3EBB-4429-A029-90C38B12C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5978" y="1965960"/>
            <a:ext cx="1875114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536D5A6-99A0-4D09-B79B-B854232E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5978" y="2061972"/>
            <a:ext cx="1875114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44%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4EA45941-FD50-469B-A721-ABE905C8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1093" y="1965960"/>
            <a:ext cx="106299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7EDD3E6A-B9BC-4604-B301-2B01248B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1093" y="2061972"/>
            <a:ext cx="1062990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25%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C168A8D0-A773-4E66-B009-20E6D0FE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4083" y="1965960"/>
            <a:ext cx="34015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F7711332-30E8-45D7-9115-0F3A3D22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4083" y="2061972"/>
            <a:ext cx="340156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8%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845A5E2C-0FF5-4F4D-9FD1-C232701F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734056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unseen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A97E4E91-39B6-4FA8-B0AB-B100F6FE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79" y="2660904"/>
            <a:ext cx="1165037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58A98AED-5B53-43AC-B113-E8AC4D25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79" y="2756916"/>
            <a:ext cx="1165037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27%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BA9E6D30-B4F7-4607-A8B3-1B5047C2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317" y="2660904"/>
            <a:ext cx="1768815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0B5AE91-12AB-4A9B-AFEB-24CE5237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317" y="2756916"/>
            <a:ext cx="1768815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42%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80B322D9-659B-4A97-A0D3-4302F779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132" y="2660904"/>
            <a:ext cx="97795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8079198D-2432-4F0B-93A4-B343ECB5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132" y="2756916"/>
            <a:ext cx="977950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23%</a:t>
            </a:r>
          </a:p>
        </p:txBody>
      </p:sp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00B158E3-2971-4177-B0CA-46D9DCB5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4083" y="2660904"/>
            <a:ext cx="34015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8F9B1418-A7C5-4BCF-926C-AFCB9DBF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4083" y="2756916"/>
            <a:ext cx="340156" cy="73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8%</a:t>
            </a:r>
          </a:p>
        </p:txBody>
      </p:sp>
      <p:sp>
        <p:nvSpPr>
          <p:cNvPr id="53" name="Rectangle 52">
            <a:extLst xmlns:a="http://schemas.openxmlformats.org/drawingml/2006/main">
              <a:ext uri="{FF2B5EF4-FFF2-40B4-BE49-F238E27FC236}">
                <a16:creationId xmlns:a16="http://schemas.microsoft.com/office/drawing/2014/main" id="{E81BB7C5-789F-4198-AE67-23DB4DA2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081527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5D45D3E9-B018-4FE8-87E7-99258378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072384"/>
            <a:ext cx="1170432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3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valid</a:t>
            </a:r>
          </a:p>
        </p:txBody>
      </p:sp>
      <p:sp>
        <p:nvSpPr>
          <p:cNvPr id="55" name="Rectangle 54">
            <a:extLst xmlns:a="http://schemas.openxmlformats.org/drawingml/2006/main">
              <a:ext uri="{FF2B5EF4-FFF2-40B4-BE49-F238E27FC236}">
                <a16:creationId xmlns:a16="http://schemas.microsoft.com/office/drawing/2014/main" id="{D1137A73-3DBF-448F-AD51-6ECDF08E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367" y="3081527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6" name="TextBox 55">
            <a:extLst xmlns:a="http://schemas.openxmlformats.org/drawingml/2006/main">
              <a:ext uri="{FF2B5EF4-FFF2-40B4-BE49-F238E27FC236}">
                <a16:creationId xmlns:a16="http://schemas.microsoft.com/office/drawing/2014/main" id="{48C3119B-BEDE-4286-9850-F0D84DBD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1" y="3072384"/>
            <a:ext cx="1170432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3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request-obvious</a:t>
            </a:r>
          </a:p>
        </p:txBody>
      </p:sp>
      <p:sp>
        <p:nvSpPr>
          <p:cNvPr id="57" name="Rectangle 56">
            <a:extLst xmlns:a="http://schemas.openxmlformats.org/drawingml/2006/main">
              <a:ext uri="{FF2B5EF4-FFF2-40B4-BE49-F238E27FC236}">
                <a16:creationId xmlns:a16="http://schemas.microsoft.com/office/drawing/2014/main" id="{4F4A3591-A192-4B7E-A243-EEE47B9B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96" y="3081527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77FF4869-CE51-462E-A10C-2E97DFC5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72384"/>
            <a:ext cx="1170432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3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contract-dependent</a:t>
            </a:r>
          </a:p>
        </p:txBody>
      </p:sp>
      <p:sp>
        <p:nvSpPr>
          <p:cNvPr id="59" name="Rectangle 58">
            <a:extLst xmlns:a="http://schemas.openxmlformats.org/drawingml/2006/main">
              <a:ext uri="{FF2B5EF4-FFF2-40B4-BE49-F238E27FC236}">
                <a16:creationId xmlns:a16="http://schemas.microsoft.com/office/drawing/2014/main" id="{677F62D0-14C8-45D4-8B8D-FD63089D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024" y="3081527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727783F5-87BD-49F8-B93D-CCBF40F3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5328" y="3072384"/>
            <a:ext cx="1170432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3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mixed</a:t>
            </a:r>
          </a:p>
        </p:txBody>
      </p:sp>
      <p:sp>
        <p:nvSpPr>
          <p:cNvPr id="61" name="Rounded Rectangle 60">
            <a:extLst xmlns:a="http://schemas.openxmlformats.org/drawingml/2006/main">
              <a:ext uri="{FF2B5EF4-FFF2-40B4-BE49-F238E27FC236}">
                <a16:creationId xmlns:a16="http://schemas.microsoft.com/office/drawing/2014/main" id="{321BB78A-894F-46EA-88B0-B18AE3DC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444" y="3744468"/>
            <a:ext cx="553212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2" name="Rounded Rectangle 61">
            <a:extLst xmlns:a="http://schemas.openxmlformats.org/drawingml/2006/main">
              <a:ext uri="{FF2B5EF4-FFF2-40B4-BE49-F238E27FC236}">
                <a16:creationId xmlns:a16="http://schemas.microsoft.com/office/drawing/2014/main" id="{C2C20750-2B6F-4B23-B550-207DC185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3703320"/>
            <a:ext cx="553212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2700">
            <a:solidFill>
              <a:srgbClr val="FED7A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3" name="TextBox 62">
            <a:extLst xmlns:a="http://schemas.openxmlformats.org/drawingml/2006/main">
              <a:ext uri="{FF2B5EF4-FFF2-40B4-BE49-F238E27FC236}">
                <a16:creationId xmlns:a16="http://schemas.microsoft.com/office/drawing/2014/main" id="{54B4658F-878F-4860-9116-426552F8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3840480"/>
            <a:ext cx="5029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Contract-dependent is not a training split: it is a test-only diagnostic slice used to expose harder examples.</a:t>
            </a:r>
          </a:p>
        </p:txBody>
      </p:sp>
      <p:sp>
        <p:nvSpPr>
          <p:cNvPr id="64" name="Rounded Rectangle 63">
            <a:extLst xmlns:a="http://schemas.openxmlformats.org/drawingml/2006/main">
              <a:ext uri="{FF2B5EF4-FFF2-40B4-BE49-F238E27FC236}">
                <a16:creationId xmlns:a16="http://schemas.microsoft.com/office/drawing/2014/main" id="{5D2E04D6-13F9-4F7D-9543-41EEBCFD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563" y="5024628"/>
            <a:ext cx="98298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1EC9EC42-8975-4C92-B42A-5D36DE5B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83480"/>
            <a:ext cx="98298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6" name="TextBox 65">
            <a:extLst xmlns:a="http://schemas.openxmlformats.org/drawingml/2006/main">
              <a:ext uri="{FF2B5EF4-FFF2-40B4-BE49-F238E27FC236}">
                <a16:creationId xmlns:a16="http://schemas.microsoft.com/office/drawing/2014/main" id="{A42EEE1F-D355-413B-822D-BDD49E22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212080"/>
            <a:ext cx="11430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 i="0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t>Audit takeaway</a:t>
            </a:r>
          </a:p>
        </p:txBody>
      </p:sp>
      <p:sp>
        <p:nvSpPr>
          <p:cNvPr id="67" name="TextBox 66">
            <a:extLst xmlns:a="http://schemas.openxmlformats.org/drawingml/2006/main">
              <a:ext uri="{FF2B5EF4-FFF2-40B4-BE49-F238E27FC236}">
                <a16:creationId xmlns:a16="http://schemas.microsoft.com/office/drawing/2014/main" id="{EBAF2E2F-33A4-49EE-87A2-A4ACCC6A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5166360"/>
            <a:ext cx="8092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The dataset is clean enough to study shortcuts: request-obvious cases remain visible, and hard subsets are reported separately.</a:t>
            </a:r>
          </a:p>
        </p:txBody>
      </p:sp>
    </p:spTree>
    <p:extLst>
      <p:ext uri="{BB962C8B-B14F-4D97-AF65-F5344CB8AC3E}">
        <p14:creationId xmlns:p14="http://schemas.microsoft.com/office/powerpoint/2010/main" val="12002067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BB099F5-F57F-40C9-813F-E31D5D2B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0"/>
            <a:ext cx="77724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Oval 2">
            <a:extLst xmlns:a="http://schemas.openxmlformats.org/drawingml/2006/main">
              <a:ext uri="{FF2B5EF4-FFF2-40B4-BE49-F238E27FC236}">
                <a16:creationId xmlns:a16="http://schemas.microsoft.com/office/drawing/2014/main" id="{DE979B9F-B7CD-44B8-A962-97EF20BA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21792" y="589788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279855AB-6CBF-4CCE-8732-5F81DF71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5855" y="6126480"/>
            <a:ext cx="1005840" cy="1005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77FBD0FB-BCD0-4030-89C9-4A2FEAE3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"/>
            <a:ext cx="841248" cy="2194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700">
            <a:solidFill>
              <a:srgbClr val="D7EA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E46137-A539-44EE-8C04-1C56A8BB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57200"/>
            <a:ext cx="768096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" b="1" i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EVALUATION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536DE9-86D1-4874-81F7-E389A1C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Evaluation protocol: full test is not enough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B0B1D95-2B0A-4C7E-BDE3-E2DEB065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070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9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The protocol makes shortcut behavior visible instead of hiding it inside one aggregate score.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C4AB2B5-0E13-4A69-A28F-1276EE18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8775" y="6537960"/>
            <a:ext cx="22860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550" b="1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10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DD749E2-52E9-49FB-83DD-1680A537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47104"/>
            <a:ext cx="256032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" b="0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Semantic API Request Diagnosis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35B63DB-D308-4945-8712-D7C5504B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" y="1458468"/>
            <a:ext cx="3154680" cy="1874519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FD6AB90-CD53-4A64-928A-78469326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3154680" cy="1874519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3B26D68-B864-4857-AB7A-E1C675BA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50292" cy="18745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398267A-52A0-4F30-A84F-F3BD7470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1545336"/>
            <a:ext cx="2880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Full test sets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DC4D6DC-0587-4C74-9B72-53FF88C9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1856232"/>
            <a:ext cx="2770632" cy="13715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seen_test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unseen_family_test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overall performance, but can hide shortcuts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200EB5F-C5B8-480B-B802-0410AAF5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524" y="1458468"/>
            <a:ext cx="3337560" cy="1874519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008AA04-B8A0-4FC0-8213-F1B7BB97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417320"/>
            <a:ext cx="3337560" cy="1874519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0FDFA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19EACCF-16A9-41A3-B3CC-4528F2B5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417320"/>
            <a:ext cx="50292" cy="18745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4A75A1-6C73-44B8-A04F-67989A61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112" y="1545336"/>
            <a:ext cx="3063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Contract-dependent hard subsets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0087CB3-277B-48A1-9C69-0230CEF8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56232"/>
            <a:ext cx="2953512" cy="13715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contract_dependent_seen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contract_dependent_unseen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requires endpoint-specific constraints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A9FB8D4-1CAF-4E29-931D-00AE307E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556" y="1458468"/>
            <a:ext cx="3337560" cy="1874519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4E324972-16E8-4578-894D-A2B83472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1417320"/>
            <a:ext cx="3337560" cy="1874519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C5ED3FA-5A37-4F9C-8F01-8620C8C4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1417320"/>
            <a:ext cx="50292" cy="18745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8E613D4-04CD-4A6A-8D0C-A59DF5AA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1545336"/>
            <a:ext cx="3063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Shortcut views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07CF45C4-74C3-4324-B714-97E1B96D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1" y="1856232"/>
            <a:ext cx="2953512" cy="13715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request_only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no_constraints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family_only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checks whether contract text matters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5747B16E-AFBC-4CAA-BEC6-24F31703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" y="3927348"/>
            <a:ext cx="1037844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D98F036D-40D2-46BC-AB03-516D9D06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86200"/>
            <a:ext cx="1037844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0FDFA"/>
          </a:solidFill>
          <a:ln xmlns:a="http://schemas.openxmlformats.org/drawingml/2006/main" w="12700">
            <a:solidFill>
              <a:srgbClr val="99F6E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1C744A4-5908-44F1-A79B-A706E693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105656"/>
            <a:ext cx="9144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50" b="1" i="0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t>Definition: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51AE8833-0DEC-4C22-9F8D-7A5E04D9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59936"/>
            <a:ext cx="8732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3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Contract-dependent means the error cannot be reliably detected from request fields alone without applying endpoint-specific constraints.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3CDFEFC8-8B2E-4683-8BB4-5231DD79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" y="5024628"/>
            <a:ext cx="10195560" cy="58521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EC4D983D-EDE0-432B-92C5-FD03301E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983480"/>
            <a:ext cx="10195560" cy="58521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E814443-06A6-4533-9786-E4B5F37C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175504"/>
            <a:ext cx="13258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19" b="1" i="0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rPr sz="819" b="1">
                <a:solidFill>
                  <a:srgbClr val="7C3AED"/>
                </a:solidFill>
              </a:rPr>
              <a:t>Main + auxiliary metrics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D1D034FD-9639-4CC7-A823-CAB621AB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048" y="5138928"/>
            <a:ext cx="8183879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</a:rPr>
              <a:t>main: semantic macro-F1 · exact-match label-set accuracy · critical semantic-error miss rate  |  auxiliary: severity bucket accuracy</a:t>
            </a:r>
          </a:p>
        </p:txBody>
      </p:sp>
    </p:spTree>
    <p:extLst>
      <p:ext uri="{BB962C8B-B14F-4D97-AF65-F5344CB8AC3E}">
        <p14:creationId xmlns:p14="http://schemas.microsoft.com/office/powerpoint/2010/main" val="14838423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8D1C8A1-EA74-4B0D-9E91-E7C8C6D5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0"/>
            <a:ext cx="77724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Oval 2">
            <a:extLst xmlns:a="http://schemas.openxmlformats.org/drawingml/2006/main">
              <a:ext uri="{FF2B5EF4-FFF2-40B4-BE49-F238E27FC236}">
                <a16:creationId xmlns:a16="http://schemas.microsoft.com/office/drawing/2014/main" id="{E6AF10A3-60BE-437C-9AF3-FA31A7E3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21792" y="589788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28A1778B-AE4B-494F-810C-7B64B695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5855" y="6126480"/>
            <a:ext cx="1005840" cy="1005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9AE1E9C4-57DF-48B6-BC03-C8AAC8C0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"/>
            <a:ext cx="841248" cy="2194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700">
            <a:solidFill>
              <a:srgbClr val="D7EA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5FA8C3B-885C-4541-A9D1-6ADDFB7E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57200"/>
            <a:ext cx="768096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" b="1" i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EVALUATION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868C92D-0C4F-43A0-A86E-50BA3391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Baselines and models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E2CE21E-96B0-4AAE-B4FE-7E88D688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070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9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The comparison is honest: a strong rule baseline is a discovery, not a problem to hide.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42174A4-2711-45AF-9FC3-5F6CBCFD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8775" y="6537960"/>
            <a:ext cx="22860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550" b="1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11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EC2A79E-6A27-4628-B79B-9C1E47FF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47104"/>
            <a:ext cx="256032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" b="0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Semantic API Request Diagnosis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64B51A0-11E5-4FBC-BE7C-34C3606D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" y="1412748"/>
            <a:ext cx="2514600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6F9C1E6-9A34-40B1-8287-4B6E2B99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71600"/>
            <a:ext cx="2514600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EF25949-F0AF-4BD4-94D7-0F3B67A7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71600"/>
            <a:ext cx="50292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B0EE747-4A8B-4FA2-AA45-7F8D36E6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1499616"/>
            <a:ext cx="22402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Weak priors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7B0DB14-8C85-4A06-A8C7-124EF88E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1810512"/>
            <a:ext cx="2130552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majority_empty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majority_frequent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family_frequency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tests whether label priors solve the task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7DB3BA2B-0562-4AA9-A533-B3875F6F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004" y="1412748"/>
            <a:ext cx="2971800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3F3C82C-20B9-4B64-AEE0-58FAE42B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371600"/>
            <a:ext cx="2971800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1926A39-7443-4004-B954-4BE1F78F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371600"/>
            <a:ext cx="50292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F9B77BA-E66B-42F1-8AF6-604C462C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499616"/>
            <a:ext cx="2697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Visible rule baseline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07F7E61-8C3E-417A-856C-DD173A81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810512"/>
            <a:ext cx="2587752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transparent rule checks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uses visible request fields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may use visible constraint clauses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never sees hidden validators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F3BB467-640E-4341-9446-D5DE78D6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1404" y="1412748"/>
            <a:ext cx="2423160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05921BCB-FC03-413A-B2C2-BCE4628E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371600"/>
            <a:ext cx="2423160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0FDFA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9FF29DE-9840-4F8D-9573-F5C2987F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371600"/>
            <a:ext cx="50292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12388BB-8FB5-4B66-B839-06D8E79D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1499616"/>
            <a:ext cx="21488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Fine-tuned encoders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DC8807B-5C0F-473D-9FFC-175A187E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810512"/>
            <a:ext cx="2039112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DistilBERT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RoBERTa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validation-tuned thresholds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full + hard + shortcut views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16FCAEF3-137C-450B-B617-E65C2640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3164" y="1412748"/>
            <a:ext cx="2148840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9FF23D8E-87C0-44F9-BFCB-76710116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1371600"/>
            <a:ext cx="2148840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6FCB85F7-A428-4A46-8977-222B5EBF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1371600"/>
            <a:ext cx="50292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B5D55E98-1871-4105-8A50-95762B63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5752" y="1499616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LLM baselines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6432EAE0-7D01-425D-9AB0-D9472EE0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1810512"/>
            <a:ext cx="1764792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gpt-4o-mini zero-shot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gpt-4o-mini few-shot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fixed 120-example sample only</a:t>
            </a:r>
          </a:p>
          <a:p xmlns:a="http://schemas.openxmlformats.org/drawingml/2006/main">
            <a:pPr>
              <a:spcAft>
                <a:spcPts val="200"/>
              </a:spcAft>
              <a:buNone/>
              <a:defRPr sz="79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• exploratory comparison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9D196CD6-AFCE-49D8-B459-0D974C55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" y="4018787"/>
            <a:ext cx="10378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E6BE6DFF-11E8-44F7-86BD-DD16BC4D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77639"/>
            <a:ext cx="10378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4211BD1A-D5A5-4342-A923-79F4A4A7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60520"/>
            <a:ext cx="2743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Clarification for the rule baseline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325182A2-8473-4302-808D-8D4A81B0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07992"/>
            <a:ext cx="969264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“Visible” means the baseline can use information that appears in the serialized input. It does not access the hidden validators used to generate labels.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0A5B61E7-E38F-484D-80A8-2F540708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244" y="5573268"/>
            <a:ext cx="8183879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9935F023-4DC3-4084-ABDC-7E638691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367528"/>
            <a:ext cx="8183879" cy="6035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3B55943F-544E-4D6F-AF6D-29ADBDEA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5486400"/>
            <a:ext cx="5403018" cy="452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4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40" b="1"/>
              <a:t>Rule and fine-tuned encoder models are evaluated on full tests, hard subsets, and shortcut views;</a:t>
            </a:r>
          </a:p>
          <a:p xmlns:a="http://schemas.openxmlformats.org/drawingml/2006/main">
            <a:pPr algn="ctr">
              <a:buNone/>
              <a:defRPr sz="94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40" b="1"/>
              <a:t> LLM baselines are exploratory fixed-sample checks.</a:t>
            </a:r>
          </a:p>
          <a:p xmlns:a="http://schemas.openxmlformats.org/drawingml/2006/main">
            <a:pPr algn="ctr">
              <a:buNone/>
              <a:defRPr sz="94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</a:p>
        </p:txBody>
      </p:sp>
    </p:spTree>
    <p:extLst>
      <p:ext uri="{BB962C8B-B14F-4D97-AF65-F5344CB8AC3E}">
        <p14:creationId xmlns:p14="http://schemas.microsoft.com/office/powerpoint/2010/main" val="4471708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FC37902-2262-4A0B-8E7A-776D4E93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0"/>
            <a:ext cx="77724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Oval 2">
            <a:extLst xmlns:a="http://schemas.openxmlformats.org/drawingml/2006/main">
              <a:ext uri="{FF2B5EF4-FFF2-40B4-BE49-F238E27FC236}">
                <a16:creationId xmlns:a16="http://schemas.microsoft.com/office/drawing/2014/main" id="{6A6A6E6C-8BE0-4B38-9830-82EF0C11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21792" y="589788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5FA03E9D-1209-42BF-996A-FAC4BC29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5855" y="6126480"/>
            <a:ext cx="1005840" cy="1005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FF0339F-4E22-459E-834A-A0CAF16D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"/>
            <a:ext cx="841248" cy="2194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700">
            <a:solidFill>
              <a:srgbClr val="D7EA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258F92-4773-4FC1-9A76-D1FAC1C6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57200"/>
            <a:ext cx="768096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" b="1" i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RESULTS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FCA5F40-7D99-40A9-97CC-10039041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Full-test results: strong in-domain, weak held-out transfer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4EB1BC3-F248-4868-9A59-3292C8F8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070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9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This slide separates overall label prediction from semantic generalization.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3977A4D-5C2E-45F1-937F-56073A5A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8775" y="6537960"/>
            <a:ext cx="22860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550" b="1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12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73E277B-6E82-4C65-97D3-107DB434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47104"/>
            <a:ext cx="256032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" b="0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Semantic API Request Diagnosis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6692D4D-050B-46A6-B22A-8912FD5D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" y="1367028"/>
            <a:ext cx="10972800" cy="58521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74596F8-9A3D-4704-AAF0-0AB51AF2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325880"/>
            <a:ext cx="10972800" cy="58521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0FDFA"/>
          </a:solidFill>
          <a:ln xmlns:a="http://schemas.openxmlformats.org/drawingml/2006/main" w="12700">
            <a:solidFill>
              <a:srgbClr val="99F6E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6DD18CB-E5D6-432B-8DCA-5996D0FE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536192"/>
            <a:ext cx="82296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50" b="1" i="0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t>Takeaway: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5934C6E-E6BA-4780-9879-F16FE38F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481328"/>
            <a:ext cx="93268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5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Micro-F1 is strong in-domain; unseen semantic macro-F1 is the key failure signal.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D4C2809D-C26B-4148-BC1B-BB6FD2B8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" y="2372868"/>
            <a:ext cx="2331720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E51577D-E93F-47B3-B0FF-F969D34E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31720"/>
            <a:ext cx="2331720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0FDFA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DE1B831-02CE-4B43-A435-18088EA2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31720"/>
            <a:ext cx="50292" cy="987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107A2D4-ADBD-43F2-A9DD-48291D5D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468879"/>
            <a:ext cx="2057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t>ROBERTA SEEN MICRO-F1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1C1CB1A-7783-4A86-84C2-3C0DF628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660903"/>
            <a:ext cx="2057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0.949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8B67B56-B880-4A04-9F8C-8379000C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054096"/>
            <a:ext cx="20391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strong all-label in-domain score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6E50BA27-D893-42D3-A2FC-C6840307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9564" y="2372868"/>
            <a:ext cx="2331720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DA3FAD7F-AA3D-490F-B6C7-34380756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331720"/>
            <a:ext cx="2331720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0FDFA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F051BB2C-EC7C-45A6-8CED-684777DF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331720"/>
            <a:ext cx="50292" cy="987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78A860C-630F-4D0D-908E-87EA237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468879"/>
            <a:ext cx="2057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t>ROBERTA SEEN EXACT MATCH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BDA0CFF-0237-4524-B2DA-C8037C6F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660903"/>
            <a:ext cx="2057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0.903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5358A5A0-A7E8-42DE-BFB5-ABA41F7D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054096"/>
            <a:ext cx="20391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strong label-set match on seen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896E6F64-F4ED-410C-8C4C-88796833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9884" y="2372868"/>
            <a:ext cx="2514600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C421E67C-C3AD-4F57-95BB-44B44147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331720"/>
            <a:ext cx="2514600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BBCDE0F-05DE-43D7-9E42-EB922A8D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331720"/>
            <a:ext cx="50292" cy="987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CCC63E49-E144-49D6-9F58-09C4034B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68879"/>
            <a:ext cx="224028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ROBERTA UNSEEN SEMANTIC MACRO-F1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F83892B1-99C8-4261-A64C-A315C008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660903"/>
            <a:ext cx="2240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0.352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5F4E6858-E22E-4A9A-9503-BE8760C5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054096"/>
            <a:ext cx="222199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weak held-out transfer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46B7BE09-EF84-4CDA-9ED1-E9ED74DB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3084" y="2372868"/>
            <a:ext cx="2514600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891DEC98-E203-4DFB-81B5-8D2F6F91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2331720"/>
            <a:ext cx="2514600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D8547464-22C5-46BF-8ECF-BAD4B069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2331720"/>
            <a:ext cx="50292" cy="987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513BF27D-1124-4F92-B689-F735FB4F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2468879"/>
            <a:ext cx="224028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RULE UNSEEN SEMANTIC MACRO-F1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6009BA4-E420-4CE3-BED3-E400C6E4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2660903"/>
            <a:ext cx="2240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0.957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55237E31-66CB-4E99-8B60-A47CC0B9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3054096"/>
            <a:ext cx="222199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visible rule baseline remains stronger</a:t>
            </a:r>
          </a:p>
        </p:txBody>
      </p:sp>
      <p:sp>
        <p:nvSpPr>
          <p:cNvPr id="39" name="Rounded Rectangle 38">
            <a:extLst xmlns:a="http://schemas.openxmlformats.org/drawingml/2006/main">
              <a:ext uri="{FF2B5EF4-FFF2-40B4-BE49-F238E27FC236}">
                <a16:creationId xmlns:a16="http://schemas.microsoft.com/office/drawing/2014/main" id="{422222C2-B97D-40DE-8FE2-C9EC7DD5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" y="3835908"/>
            <a:ext cx="10744200" cy="1353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D99C9A15-6046-40B6-9BA2-A5AE1B80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94760"/>
            <a:ext cx="10744200" cy="13533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D48D4FF7-4D47-4CF7-B5A2-59E9B8DD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005072"/>
            <a:ext cx="205740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1F29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D5E8A825-49B8-43C8-B979-A306ABB4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4078224"/>
            <a:ext cx="1984248" cy="804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view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81A91639-3185-47BB-8402-A6673C2A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528" y="4005072"/>
            <a:ext cx="226314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1F29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F5739BB0-19AE-4914-81CE-2660FDAB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104" y="4078224"/>
            <a:ext cx="2189988" cy="804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model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2E9A6A42-DD6A-4720-9509-8322F66C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668" y="4005072"/>
            <a:ext cx="185166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1F29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21851046-9F12-428A-8585-E57A55B5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244" y="4078224"/>
            <a:ext cx="1778507" cy="804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micro-F1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DC7DB231-E99B-42A6-A5FA-185EC1DB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328" y="4005072"/>
            <a:ext cx="2468879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1F29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8703000B-A8B2-4EF2-AB3A-72BCB8D9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078224"/>
            <a:ext cx="2395727" cy="804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semantic macro-F1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ADC92D61-8105-42FE-AE1E-65146BBF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5208" y="4005072"/>
            <a:ext cx="164592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1F29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2CB9DEC7-61B0-48BC-8030-B2C5579A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1784" y="4078224"/>
            <a:ext cx="1572768" cy="8046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exact match</a:t>
            </a:r>
          </a:p>
        </p:txBody>
      </p:sp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4DE45956-DE00-4420-8FCA-FCF2E1FB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176979"/>
            <a:ext cx="205740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C0A7A02F-FE00-4623-95A3-112C9AA9C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4227271"/>
            <a:ext cx="198424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seen_test</a:t>
            </a:r>
          </a:p>
        </p:txBody>
      </p:sp>
      <p:sp>
        <p:nvSpPr>
          <p:cNvPr id="53" name="Rectangle 52">
            <a:extLst xmlns:a="http://schemas.openxmlformats.org/drawingml/2006/main">
              <a:ext uri="{FF2B5EF4-FFF2-40B4-BE49-F238E27FC236}">
                <a16:creationId xmlns:a16="http://schemas.microsoft.com/office/drawing/2014/main" id="{5843BE01-878A-4D21-AB16-E26C3ABC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528" y="4176979"/>
            <a:ext cx="226314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E9B0285F-C051-41BF-AA0A-E6433BDA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104" y="4227271"/>
            <a:ext cx="218998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visible rule</a:t>
            </a:r>
          </a:p>
        </p:txBody>
      </p:sp>
      <p:sp>
        <p:nvSpPr>
          <p:cNvPr id="55" name="Rectangle 54">
            <a:extLst xmlns:a="http://schemas.openxmlformats.org/drawingml/2006/main">
              <a:ext uri="{FF2B5EF4-FFF2-40B4-BE49-F238E27FC236}">
                <a16:creationId xmlns:a16="http://schemas.microsoft.com/office/drawing/2014/main" id="{7668A424-AABE-4FD9-93AE-9BC2B16A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668" y="4176979"/>
            <a:ext cx="185166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6" name="TextBox 55">
            <a:extLst xmlns:a="http://schemas.openxmlformats.org/drawingml/2006/main">
              <a:ext uri="{FF2B5EF4-FFF2-40B4-BE49-F238E27FC236}">
                <a16:creationId xmlns:a16="http://schemas.microsoft.com/office/drawing/2014/main" id="{06DBB45E-4644-42DF-9B58-C5375006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244" y="4227271"/>
            <a:ext cx="1778507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0.804</a:t>
            </a:r>
          </a:p>
        </p:txBody>
      </p:sp>
      <p:sp>
        <p:nvSpPr>
          <p:cNvPr id="57" name="Rectangle 56">
            <a:extLst xmlns:a="http://schemas.openxmlformats.org/drawingml/2006/main">
              <a:ext uri="{FF2B5EF4-FFF2-40B4-BE49-F238E27FC236}">
                <a16:creationId xmlns:a16="http://schemas.microsoft.com/office/drawing/2014/main" id="{740559DE-73DF-47E3-9790-0A04AAFC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328" y="4176979"/>
            <a:ext cx="2468879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DEA99A7F-4760-4DA9-BF87-442CA0BC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227271"/>
            <a:ext cx="2395727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0.866</a:t>
            </a:r>
          </a:p>
        </p:txBody>
      </p:sp>
      <p:sp>
        <p:nvSpPr>
          <p:cNvPr id="59" name="Rectangle 58">
            <a:extLst xmlns:a="http://schemas.openxmlformats.org/drawingml/2006/main">
              <a:ext uri="{FF2B5EF4-FFF2-40B4-BE49-F238E27FC236}">
                <a16:creationId xmlns:a16="http://schemas.microsoft.com/office/drawing/2014/main" id="{BC7E1FEE-8103-4D4C-A161-0589152E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5208" y="4176979"/>
            <a:ext cx="164592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4DB172C8-2DFD-4E7C-A494-C6464AC8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1784" y="4227271"/>
            <a:ext cx="157276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0.657</a:t>
            </a:r>
          </a:p>
        </p:txBody>
      </p:sp>
      <p:sp>
        <p:nvSpPr>
          <p:cNvPr id="61" name="Rectangle 60">
            <a:extLst xmlns:a="http://schemas.openxmlformats.org/drawingml/2006/main">
              <a:ext uri="{FF2B5EF4-FFF2-40B4-BE49-F238E27FC236}">
                <a16:creationId xmlns:a16="http://schemas.microsoft.com/office/drawing/2014/main" id="{9DD02ABD-C435-4345-A8E3-6F993344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348886"/>
            <a:ext cx="205740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D95F9215-73C7-4E45-80A5-99F07F3B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4399178"/>
            <a:ext cx="198424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seen_test</a:t>
            </a:r>
          </a:p>
        </p:txBody>
      </p:sp>
      <p:sp>
        <p:nvSpPr>
          <p:cNvPr id="63" name="Rectangle 62">
            <a:extLst xmlns:a="http://schemas.openxmlformats.org/drawingml/2006/main">
              <a:ext uri="{FF2B5EF4-FFF2-40B4-BE49-F238E27FC236}">
                <a16:creationId xmlns:a16="http://schemas.microsoft.com/office/drawing/2014/main" id="{CF8381FA-921D-4F21-91E1-5A6311BB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528" y="4348886"/>
            <a:ext cx="226314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4" name="TextBox 63">
            <a:extLst xmlns:a="http://schemas.openxmlformats.org/drawingml/2006/main">
              <a:ext uri="{FF2B5EF4-FFF2-40B4-BE49-F238E27FC236}">
                <a16:creationId xmlns:a16="http://schemas.microsoft.com/office/drawing/2014/main" id="{573392AE-93E4-4B7D-881A-1CEFD707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104" y="4399178"/>
            <a:ext cx="218998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RoBERTa</a:t>
            </a:r>
          </a:p>
        </p:txBody>
      </p:sp>
      <p:sp>
        <p:nvSpPr>
          <p:cNvPr id="65" name="Rectangle 64">
            <a:extLst xmlns:a="http://schemas.openxmlformats.org/drawingml/2006/main">
              <a:ext uri="{FF2B5EF4-FFF2-40B4-BE49-F238E27FC236}">
                <a16:creationId xmlns:a16="http://schemas.microsoft.com/office/drawing/2014/main" id="{647EE939-E03D-4141-86AC-875310C4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668" y="4348886"/>
            <a:ext cx="185166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6" name="TextBox 65">
            <a:extLst xmlns:a="http://schemas.openxmlformats.org/drawingml/2006/main">
              <a:ext uri="{FF2B5EF4-FFF2-40B4-BE49-F238E27FC236}">
                <a16:creationId xmlns:a16="http://schemas.microsoft.com/office/drawing/2014/main" id="{A273C92D-1C98-41B8-9244-F2EAFE55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244" y="4399178"/>
            <a:ext cx="1778507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0.949</a:t>
            </a:r>
          </a:p>
        </p:txBody>
      </p:sp>
      <p:sp>
        <p:nvSpPr>
          <p:cNvPr id="67" name="Rectangle 66">
            <a:extLst xmlns:a="http://schemas.openxmlformats.org/drawingml/2006/main">
              <a:ext uri="{FF2B5EF4-FFF2-40B4-BE49-F238E27FC236}">
                <a16:creationId xmlns:a16="http://schemas.microsoft.com/office/drawing/2014/main" id="{37938D41-EA88-4F69-8F6C-27200521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328" y="4348886"/>
            <a:ext cx="2468879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8" name="TextBox 67">
            <a:extLst xmlns:a="http://schemas.openxmlformats.org/drawingml/2006/main">
              <a:ext uri="{FF2B5EF4-FFF2-40B4-BE49-F238E27FC236}">
                <a16:creationId xmlns:a16="http://schemas.microsoft.com/office/drawing/2014/main" id="{36F4DEE6-B037-4E42-8824-783E397D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399178"/>
            <a:ext cx="2395727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0.807</a:t>
            </a:r>
          </a:p>
        </p:txBody>
      </p:sp>
      <p:sp>
        <p:nvSpPr>
          <p:cNvPr id="69" name="Rectangle 68">
            <a:extLst xmlns:a="http://schemas.openxmlformats.org/drawingml/2006/main">
              <a:ext uri="{FF2B5EF4-FFF2-40B4-BE49-F238E27FC236}">
                <a16:creationId xmlns:a16="http://schemas.microsoft.com/office/drawing/2014/main" id="{56E577A2-6353-42B4-A405-178A779F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5208" y="4348886"/>
            <a:ext cx="164592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0" name="TextBox 69">
            <a:extLst xmlns:a="http://schemas.openxmlformats.org/drawingml/2006/main">
              <a:ext uri="{FF2B5EF4-FFF2-40B4-BE49-F238E27FC236}">
                <a16:creationId xmlns:a16="http://schemas.microsoft.com/office/drawing/2014/main" id="{AE041F3C-57B0-4CA8-A3BF-52B2E0F4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1784" y="4399178"/>
            <a:ext cx="157276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0.903</a:t>
            </a:r>
          </a:p>
        </p:txBody>
      </p:sp>
      <p:sp>
        <p:nvSpPr>
          <p:cNvPr id="71" name="Rectangle 70">
            <a:extLst xmlns:a="http://schemas.openxmlformats.org/drawingml/2006/main">
              <a:ext uri="{FF2B5EF4-FFF2-40B4-BE49-F238E27FC236}">
                <a16:creationId xmlns:a16="http://schemas.microsoft.com/office/drawing/2014/main" id="{DFC588B4-C44F-43C1-8352-FCE406EC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520793"/>
            <a:ext cx="205740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2" name="TextBox 71">
            <a:extLst xmlns:a="http://schemas.openxmlformats.org/drawingml/2006/main">
              <a:ext uri="{FF2B5EF4-FFF2-40B4-BE49-F238E27FC236}">
                <a16:creationId xmlns:a16="http://schemas.microsoft.com/office/drawing/2014/main" id="{29E8AF74-734B-4746-A31D-CBD93A89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4571085"/>
            <a:ext cx="198424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unseen_test</a:t>
            </a:r>
          </a:p>
        </p:txBody>
      </p:sp>
      <p:sp>
        <p:nvSpPr>
          <p:cNvPr id="73" name="Rectangle 72">
            <a:extLst xmlns:a="http://schemas.openxmlformats.org/drawingml/2006/main">
              <a:ext uri="{FF2B5EF4-FFF2-40B4-BE49-F238E27FC236}">
                <a16:creationId xmlns:a16="http://schemas.microsoft.com/office/drawing/2014/main" id="{64669FD9-6085-4C17-BDF2-A09F2C80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528" y="4520793"/>
            <a:ext cx="226314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4" name="TextBox 73">
            <a:extLst xmlns:a="http://schemas.openxmlformats.org/drawingml/2006/main">
              <a:ext uri="{FF2B5EF4-FFF2-40B4-BE49-F238E27FC236}">
                <a16:creationId xmlns:a16="http://schemas.microsoft.com/office/drawing/2014/main" id="{89E851E8-CEA8-414D-B92C-ADE6888C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104" y="4571085"/>
            <a:ext cx="218998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visible rule</a:t>
            </a:r>
          </a:p>
        </p:txBody>
      </p:sp>
      <p:sp>
        <p:nvSpPr>
          <p:cNvPr id="75" name="Rectangle 74">
            <a:extLst xmlns:a="http://schemas.openxmlformats.org/drawingml/2006/main">
              <a:ext uri="{FF2B5EF4-FFF2-40B4-BE49-F238E27FC236}">
                <a16:creationId xmlns:a16="http://schemas.microsoft.com/office/drawing/2014/main" id="{D8AD27FD-B2C9-4FC7-80B3-980EA683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668" y="4520793"/>
            <a:ext cx="185166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6" name="TextBox 75">
            <a:extLst xmlns:a="http://schemas.openxmlformats.org/drawingml/2006/main">
              <a:ext uri="{FF2B5EF4-FFF2-40B4-BE49-F238E27FC236}">
                <a16:creationId xmlns:a16="http://schemas.microsoft.com/office/drawing/2014/main" id="{14079907-ED0F-4A0A-B005-C92EE40B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244" y="4571085"/>
            <a:ext cx="1778507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0.923</a:t>
            </a:r>
          </a:p>
        </p:txBody>
      </p:sp>
      <p:sp>
        <p:nvSpPr>
          <p:cNvPr id="77" name="Rectangle 76">
            <a:extLst xmlns:a="http://schemas.openxmlformats.org/drawingml/2006/main">
              <a:ext uri="{FF2B5EF4-FFF2-40B4-BE49-F238E27FC236}">
                <a16:creationId xmlns:a16="http://schemas.microsoft.com/office/drawing/2014/main" id="{438D8405-EDE5-4D2A-98AA-17954D7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328" y="4520793"/>
            <a:ext cx="2468879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8" name="TextBox 77">
            <a:extLst xmlns:a="http://schemas.openxmlformats.org/drawingml/2006/main">
              <a:ext uri="{FF2B5EF4-FFF2-40B4-BE49-F238E27FC236}">
                <a16:creationId xmlns:a16="http://schemas.microsoft.com/office/drawing/2014/main" id="{2D8BAF83-C14E-4300-8A0A-4527C1B7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571085"/>
            <a:ext cx="2395727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0.957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8A7778D7-3DA6-4B91-BB3E-4248606D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5208" y="4520793"/>
            <a:ext cx="164592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0" name="TextBox 79">
            <a:extLst xmlns:a="http://schemas.openxmlformats.org/drawingml/2006/main">
              <a:ext uri="{FF2B5EF4-FFF2-40B4-BE49-F238E27FC236}">
                <a16:creationId xmlns:a16="http://schemas.microsoft.com/office/drawing/2014/main" id="{3A2A4067-E305-4AA7-B2B6-16B95348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1784" y="4571085"/>
            <a:ext cx="157276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0.874</a:t>
            </a:r>
          </a:p>
        </p:txBody>
      </p:sp>
      <p:sp>
        <p:nvSpPr>
          <p:cNvPr id="81" name="Rectangle 80">
            <a:extLst xmlns:a="http://schemas.openxmlformats.org/drawingml/2006/main">
              <a:ext uri="{FF2B5EF4-FFF2-40B4-BE49-F238E27FC236}">
                <a16:creationId xmlns:a16="http://schemas.microsoft.com/office/drawing/2014/main" id="{C6F78B24-1B11-4DE6-BEC7-A9FDF699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692700"/>
            <a:ext cx="205740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0F670645-04E5-49C1-8E91-C5928069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4742992"/>
            <a:ext cx="198424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unseen_test</a:t>
            </a:r>
          </a:p>
        </p:txBody>
      </p:sp>
      <p:sp>
        <p:nvSpPr>
          <p:cNvPr id="83" name="Rectangle 82">
            <a:extLst xmlns:a="http://schemas.openxmlformats.org/drawingml/2006/main">
              <a:ext uri="{FF2B5EF4-FFF2-40B4-BE49-F238E27FC236}">
                <a16:creationId xmlns:a16="http://schemas.microsoft.com/office/drawing/2014/main" id="{2EE3FCF7-6BBD-4843-92C6-E05CFA30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528" y="4692700"/>
            <a:ext cx="226314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4" name="TextBox 83">
            <a:extLst xmlns:a="http://schemas.openxmlformats.org/drawingml/2006/main">
              <a:ext uri="{FF2B5EF4-FFF2-40B4-BE49-F238E27FC236}">
                <a16:creationId xmlns:a16="http://schemas.microsoft.com/office/drawing/2014/main" id="{F07E47C5-839F-4A00-B2CB-34159595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104" y="4742992"/>
            <a:ext cx="218998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RoBERTa</a:t>
            </a:r>
          </a:p>
        </p:txBody>
      </p:sp>
      <p:sp>
        <p:nvSpPr>
          <p:cNvPr id="85" name="Rectangle 84">
            <a:extLst xmlns:a="http://schemas.openxmlformats.org/drawingml/2006/main">
              <a:ext uri="{FF2B5EF4-FFF2-40B4-BE49-F238E27FC236}">
                <a16:creationId xmlns:a16="http://schemas.microsoft.com/office/drawing/2014/main" id="{6DA82545-6D85-41D0-BC25-88346BA7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668" y="4692700"/>
            <a:ext cx="185166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6" name="TextBox 85">
            <a:extLst xmlns:a="http://schemas.openxmlformats.org/drawingml/2006/main">
              <a:ext uri="{FF2B5EF4-FFF2-40B4-BE49-F238E27FC236}">
                <a16:creationId xmlns:a16="http://schemas.microsoft.com/office/drawing/2014/main" id="{42F0551D-2FB6-4897-8997-BF73A13F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244" y="4742992"/>
            <a:ext cx="1778507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0.721</a:t>
            </a:r>
          </a:p>
        </p:txBody>
      </p:sp>
      <p:sp>
        <p:nvSpPr>
          <p:cNvPr id="87" name="Rectangle 86">
            <a:extLst xmlns:a="http://schemas.openxmlformats.org/drawingml/2006/main">
              <a:ext uri="{FF2B5EF4-FFF2-40B4-BE49-F238E27FC236}">
                <a16:creationId xmlns:a16="http://schemas.microsoft.com/office/drawing/2014/main" id="{710BA201-E5BE-4E35-BF28-D6FC2A75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328" y="4692700"/>
            <a:ext cx="2468879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8" name="TextBox 87">
            <a:extLst xmlns:a="http://schemas.openxmlformats.org/drawingml/2006/main">
              <a:ext uri="{FF2B5EF4-FFF2-40B4-BE49-F238E27FC236}">
                <a16:creationId xmlns:a16="http://schemas.microsoft.com/office/drawing/2014/main" id="{28DDF449-E07E-49F5-9A0D-5332EAE5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742992"/>
            <a:ext cx="2395727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0.352</a:t>
            </a:r>
          </a:p>
        </p:txBody>
      </p:sp>
      <p:sp>
        <p:nvSpPr>
          <p:cNvPr id="89" name="Rectangle 88">
            <a:extLst xmlns:a="http://schemas.openxmlformats.org/drawingml/2006/main">
              <a:ext uri="{FF2B5EF4-FFF2-40B4-BE49-F238E27FC236}">
                <a16:creationId xmlns:a16="http://schemas.microsoft.com/office/drawing/2014/main" id="{41F4FFB8-1ECE-4AA1-86C4-6633051E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5208" y="4692700"/>
            <a:ext cx="1645920" cy="1719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0" name="TextBox 89">
            <a:extLst xmlns:a="http://schemas.openxmlformats.org/drawingml/2006/main">
              <a:ext uri="{FF2B5EF4-FFF2-40B4-BE49-F238E27FC236}">
                <a16:creationId xmlns:a16="http://schemas.microsoft.com/office/drawing/2014/main" id="{E628A153-9AAC-4BE2-A2E2-FB15FE0D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1784" y="4742992"/>
            <a:ext cx="1572768" cy="987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0.606</a:t>
            </a:r>
          </a:p>
        </p:txBody>
      </p:sp>
      <p:sp>
        <p:nvSpPr>
          <p:cNvPr id="91" name="Rounded Rectangle 90">
            <a:extLst xmlns:a="http://schemas.openxmlformats.org/drawingml/2006/main">
              <a:ext uri="{FF2B5EF4-FFF2-40B4-BE49-F238E27FC236}">
                <a16:creationId xmlns:a16="http://schemas.microsoft.com/office/drawing/2014/main" id="{BFB67256-174B-4A48-AAB4-83546F76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763" y="5554980"/>
            <a:ext cx="941832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2" name="Rounded Rectangle 91">
            <a:extLst xmlns:a="http://schemas.openxmlformats.org/drawingml/2006/main">
              <a:ext uri="{FF2B5EF4-FFF2-40B4-BE49-F238E27FC236}">
                <a16:creationId xmlns:a16="http://schemas.microsoft.com/office/drawing/2014/main" id="{244357F7-99BA-40AC-9303-23BA355D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513832"/>
            <a:ext cx="941832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3" name="TextBox 92">
            <a:extLst xmlns:a="http://schemas.openxmlformats.org/drawingml/2006/main">
              <a:ext uri="{FF2B5EF4-FFF2-40B4-BE49-F238E27FC236}">
                <a16:creationId xmlns:a16="http://schemas.microsoft.com/office/drawing/2014/main" id="{DEC14595-033B-4735-BC37-D8B47A67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650992"/>
            <a:ext cx="877824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Interpretation: strong in-domain label prediction, limited unseen semantic transfer.</a:t>
            </a:r>
          </a:p>
        </p:txBody>
      </p:sp>
      <p:sp>
        <p:nvSpPr>
          <p:cNvPr id="94" name="Rounded Rectangle 93">
            <a:extLst xmlns:a="http://schemas.openxmlformats.org/drawingml/2006/main">
              <a:ext uri="{FF2B5EF4-FFF2-40B4-BE49-F238E27FC236}">
                <a16:creationId xmlns:a16="http://schemas.microsoft.com/office/drawing/2014/main" id="{184B54F9-973C-499C-972D-DFA553F1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230368"/>
            <a:ext cx="83667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45720" tIns="18288" rIns="45720" bIns="18288" anchor="ctr"/>
          <a:lstStyle xmlns:a="http://schemas.openxmlformats.org/drawingml/2006/main"/>
          <a:p xmlns:a="http://schemas.openxmlformats.org/drawingml/2006/main">
            <a:pPr algn="ctr">
              <a:buNone/>
              <a:defRPr sz="72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Severity bucket is auxiliary; these central result slides focus on error-label diagnosis and semantic F1.</a:t>
            </a:r>
          </a:p>
        </p:txBody>
      </p:sp>
    </p:spTree>
    <p:extLst>
      <p:ext uri="{BB962C8B-B14F-4D97-AF65-F5344CB8AC3E}">
        <p14:creationId xmlns:p14="http://schemas.microsoft.com/office/powerpoint/2010/main" val="13279780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047AD8A-ADD1-410A-AE0E-958F214E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0"/>
            <a:ext cx="77724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Oval 2">
            <a:extLst xmlns:a="http://schemas.openxmlformats.org/drawingml/2006/main">
              <a:ext uri="{FF2B5EF4-FFF2-40B4-BE49-F238E27FC236}">
                <a16:creationId xmlns:a16="http://schemas.microsoft.com/office/drawing/2014/main" id="{30045E30-E46B-4860-B021-C8136B56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21792" y="589788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844DBA69-C9A8-4098-94AA-CCF9FA8D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5855" y="6126480"/>
            <a:ext cx="1005840" cy="1005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615E18B4-FA3D-4F4D-86E0-54919710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"/>
            <a:ext cx="841248" cy="2194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700">
            <a:solidFill>
              <a:srgbClr val="D7EA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AFD887-DDF3-4DB5-B539-DEAB9BD1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57200"/>
            <a:ext cx="768096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" b="1" i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RESULTS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D0A6EF0-BEA9-4A47-814C-098EB137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Contract-dependent subsets expose the real challenge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FA83E3C-5ACD-4236-B333-1EDFE6FBF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070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9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These test-only slices remove the comfort of request-only clues.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B23017E-786C-45C9-8BDF-63D6062E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8775" y="6537960"/>
            <a:ext cx="22860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550" b="1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AA61D82-5D90-43DF-BA9D-76BA47C3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47104"/>
            <a:ext cx="256032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" b="0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Semantic API Request Diagnosis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EF08658-6A47-4153-8CE0-A8B60D21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" y="1458468"/>
            <a:ext cx="2377440" cy="9692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D0971C8-51ED-4CAE-B61F-8F7B0729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7320"/>
            <a:ext cx="2377440" cy="9692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3E64243-7A03-4BC2-9172-C4E13918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7320"/>
            <a:ext cx="50292" cy="9692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70E8E2B-3B06-40DE-B5D8-F0E74053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1554480"/>
            <a:ext cx="21031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HARD SEEN SUBSET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4CB099F-16E7-4F39-90E0-400F1BCA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1746504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175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5B8427E-A427-49B9-88CD-1C810955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139696"/>
            <a:ext cx="20848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test-only contract-dependent seen examples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04739E3-1B54-420F-B5A2-128197B3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9564" y="1458468"/>
            <a:ext cx="2377440" cy="9692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63EE56C-EF82-4566-A01A-2E495221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1417320"/>
            <a:ext cx="2377440" cy="9692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3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B11FF8F7-49AB-4F46-B90C-196FB3A9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1417320"/>
            <a:ext cx="50292" cy="9692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CBB3A58-EBD0-461A-85A0-77C0C850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1554480"/>
            <a:ext cx="21031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t>HARD UNSEEN SUBSET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559BA8-D532-4C64-915C-12A75CDB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1746504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161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66092EF-622C-4083-9824-F2BB2F76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139696"/>
            <a:ext cx="20848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test-only contract-dependent unseen examples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31B33343-3EDF-4D6B-A5A4-86A89B2F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324" y="1458468"/>
            <a:ext cx="2514600" cy="9692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40134CA9-CDEF-44CF-A8BB-38910442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417320"/>
            <a:ext cx="2514600" cy="9692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0FDFA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063137F-D5A8-4598-A657-BBC0F791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417320"/>
            <a:ext cx="50292" cy="9692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105628D-9B70-4B28-BAF4-F993EABE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912" y="1554480"/>
            <a:ext cx="224028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t>ROBERTA HARD SEEN SEMANTIC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61B6231-7957-4B91-BC08-F26720D7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912" y="1746504"/>
            <a:ext cx="2240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0.839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0E8A21D6-5B99-4FF1-8197-6D786924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912" y="2139696"/>
            <a:ext cx="222199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performs well on seen-family hard examples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77CBB03B-528A-408A-BFB6-7876AC4A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244" y="1458468"/>
            <a:ext cx="2514600" cy="9692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C2B9C71A-11BF-43EB-B9EC-48A621B4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1417320"/>
            <a:ext cx="2514600" cy="9692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68989189-DBB4-4036-A771-A1DCDEF3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1417320"/>
            <a:ext cx="50292" cy="9692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3B33E6F-DEDA-401F-B5D1-AD7F9381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1554480"/>
            <a:ext cx="224028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ROBERTA HARD UNSEEN SEMANTIC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890931DE-6740-4F97-9738-94CE9C7B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1746504"/>
            <a:ext cx="2240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0.263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D8650152-9083-4898-B944-B35B1131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139696"/>
            <a:ext cx="222199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held-out semantic transfer remains weak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A128280F-6F35-44BB-82A2-8830F7E1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" y="2830068"/>
            <a:ext cx="10378440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C085A63C-A2F9-416C-8AB6-EBA16BEC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88920"/>
            <a:ext cx="10378440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6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2CA763BD-7A21-4951-A608-C907116F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2926079"/>
            <a:ext cx="997610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6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Semantic macro-F1 on hard subsets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04DC376-A594-4CBE-9C2B-70702743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663440"/>
            <a:ext cx="9464040" cy="36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CF431C21-D223-4D23-BB2F-8C3B8CF7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201168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580" b="0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0.0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3EAB16FF-2216-4336-B710-F21B0544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023359"/>
            <a:ext cx="9464040" cy="36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FC323531-D3E8-4F8F-A08D-B4DA77B5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977639"/>
            <a:ext cx="201168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580" b="0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0.5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3750C1D7-1052-437B-B576-8BEACD56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383279"/>
            <a:ext cx="9464040" cy="36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1D412B54-4CF3-461E-8392-A7EEDE96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337560"/>
            <a:ext cx="201168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580" b="0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1.0</a:t>
            </a:r>
          </a:p>
        </p:txBody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8D4838E0-66B3-4367-8925-D9B61FC5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8154" y="3886382"/>
            <a:ext cx="210312" cy="7770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AF8EF560-BF92-4847-AFF1-8005A7A4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002" y="3721790"/>
            <a:ext cx="356616" cy="82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0.607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39784144-D203-4932-878D-0867F837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194" y="3589385"/>
            <a:ext cx="210312" cy="10740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41BCDA2C-C097-4759-AAD3-DCDA7854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041" y="3424793"/>
            <a:ext cx="356616" cy="82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0.839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4E58C632-2BCF-4392-BE9D-B6C070B4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773168"/>
            <a:ext cx="469544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5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contract-dependent</a:t>
            </a:r>
            <a:br/>
            <a:r>
              <a:t>seen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902FDC47-4B8C-43B7-9205-53700A73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0174" y="3865900"/>
            <a:ext cx="210312" cy="79753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63B3C1E1-364E-4602-9795-98821441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022" y="3701308"/>
            <a:ext cx="356616" cy="82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0.623</a:t>
            </a:r>
          </a:p>
        </p:txBody>
      </p:sp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2A21905C-6F75-4422-ABD6-12100833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0214" y="4326757"/>
            <a:ext cx="210312" cy="33668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D6AFB0D3-C1C6-4CDD-B3A3-9E907963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7062" y="4162165"/>
            <a:ext cx="356616" cy="822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0.263</a:t>
            </a: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F965A649-6CBA-403E-9515-9A95FCB4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4773168"/>
            <a:ext cx="469544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5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contract-dependent</a:t>
            </a:r>
            <a:br/>
            <a:r>
              <a:t>unseen</a:t>
            </a:r>
          </a:p>
        </p:txBody>
      </p:sp>
      <p:sp>
        <p:nvSpPr>
          <p:cNvPr id="54" name="Rectangle 53">
            <a:extLst xmlns:a="http://schemas.openxmlformats.org/drawingml/2006/main">
              <a:ext uri="{FF2B5EF4-FFF2-40B4-BE49-F238E27FC236}">
                <a16:creationId xmlns:a16="http://schemas.microsoft.com/office/drawing/2014/main" id="{56475336-8079-41EB-91D5-66EE01C5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990088"/>
            <a:ext cx="100584" cy="1005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27E298A7-6302-4F83-B222-66F83C05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2976372"/>
            <a:ext cx="731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Visible rule</a:t>
            </a:r>
          </a:p>
        </p:txBody>
      </p:sp>
      <p:sp>
        <p:nvSpPr>
          <p:cNvPr id="56" name="Rectangle 55">
            <a:extLst xmlns:a="http://schemas.openxmlformats.org/drawingml/2006/main">
              <a:ext uri="{FF2B5EF4-FFF2-40B4-BE49-F238E27FC236}">
                <a16:creationId xmlns:a16="http://schemas.microsoft.com/office/drawing/2014/main" id="{F80D42D6-A4F1-4597-9D75-CAB215DB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288" y="2990088"/>
            <a:ext cx="100584" cy="1005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FE2A081F-C5B8-41A0-BDE4-5F4B2DF6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3304" y="2976372"/>
            <a:ext cx="731520" cy="1005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RoBERTa</a:t>
            </a:r>
          </a:p>
        </p:txBody>
      </p:sp>
      <p:sp>
        <p:nvSpPr>
          <p:cNvPr id="58" name="Rounded Rectangle 57">
            <a:extLst xmlns:a="http://schemas.openxmlformats.org/drawingml/2006/main">
              <a:ext uri="{FF2B5EF4-FFF2-40B4-BE49-F238E27FC236}">
                <a16:creationId xmlns:a16="http://schemas.microsoft.com/office/drawing/2014/main" id="{AC1963E4-FE9D-4807-96F3-8B2E6CA6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563" y="5573268"/>
            <a:ext cx="10104120" cy="5120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9" name="Rounded Rectangle 58">
            <a:extLst xmlns:a="http://schemas.openxmlformats.org/drawingml/2006/main">
              <a:ext uri="{FF2B5EF4-FFF2-40B4-BE49-F238E27FC236}">
                <a16:creationId xmlns:a16="http://schemas.microsoft.com/office/drawing/2014/main" id="{0D6421CC-D175-41D5-9CF0-2CB68241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104120" cy="5120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1B8E3BA2-4DB6-471F-965F-3BB744F7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696712"/>
            <a:ext cx="100584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30" b="1" i="0">
                <a:solidFill>
                  <a:srgbClr val="DB2777"/>
                </a:solidFill>
                <a:latin typeface="Aptos"/>
                <a:ea typeface="Aptos"/>
                <a:cs typeface="Aptos"/>
              </a:defRPr>
            </a:pPr>
            <a:r>
              <a:t>Key insight:</a:t>
            </a:r>
          </a:p>
        </p:txBody>
      </p:sp>
      <p:sp>
        <p:nvSpPr>
          <p:cNvPr id="61" name="TextBox 60">
            <a:extLst xmlns:a="http://schemas.openxmlformats.org/drawingml/2006/main">
              <a:ext uri="{FF2B5EF4-FFF2-40B4-BE49-F238E27FC236}">
                <a16:creationId xmlns:a16="http://schemas.microsoft.com/office/drawing/2014/main" id="{19D598A0-95F1-4A22-B6DD-7061CF2B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650992"/>
            <a:ext cx="8503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8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High full-test scores can hide shortcut behavior; contract-dependent evaluation exposes the real challenge.</a:t>
            </a:r>
          </a:p>
        </p:txBody>
      </p:sp>
      <p:sp>
        <p:nvSpPr>
          <p:cNvPr id="62" name="Rounded Rectangle 61">
            <a:extLst xmlns:a="http://schemas.openxmlformats.org/drawingml/2006/main">
              <a:ext uri="{FF2B5EF4-FFF2-40B4-BE49-F238E27FC236}">
                <a16:creationId xmlns:a16="http://schemas.microsoft.com/office/drawing/2014/main" id="{01B7A16B-B2AC-4522-9401-A4CF22B9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3246120"/>
            <a:ext cx="347472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0FDFA"/>
          </a:solidFill>
          <a:ln xmlns:a="http://schemas.openxmlformats.org/drawingml/2006/main" w="12700">
            <a:solidFill>
              <a:srgbClr val="99F6E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45720" tIns="18288" rIns="45720" bIns="18288" anchor="ctr"/>
          <a:lstStyle xmlns:a="http://schemas.openxmlformats.org/drawingml/2006/main"/>
          <a:p xmlns:a="http://schemas.openxmlformats.org/drawingml/2006/main">
            <a:pPr algn="ctr">
              <a:buNone/>
              <a:defRPr sz="720" b="1">
                <a:solidFill>
                  <a:srgbClr val="14B8A6"/>
                </a:solidFill>
                <a:latin typeface="Aptos"/>
                <a:ea typeface="Aptos"/>
                <a:cs typeface="Aptos"/>
              </a:defRPr>
            </a:pPr>
            <a:r>
              <a:t>Seen: RoBERTa performs well on contract use</a:t>
            </a:r>
          </a:p>
        </p:txBody>
      </p:sp>
      <p:sp>
        <p:nvSpPr>
          <p:cNvPr id="63" name="Rounded Rectangle 62">
            <a:extLst xmlns:a="http://schemas.openxmlformats.org/drawingml/2006/main">
              <a:ext uri="{FF2B5EF4-FFF2-40B4-BE49-F238E27FC236}">
                <a16:creationId xmlns:a16="http://schemas.microsoft.com/office/drawing/2014/main" id="{241E8950-2AA7-4F63-BCA7-BFB458CE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246120"/>
            <a:ext cx="28803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 w="12700">
            <a:solidFill>
              <a:srgbClr val="FCA5A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45720" tIns="18288" rIns="45720" bIns="18288" anchor="ctr"/>
          <a:lstStyle xmlns:a="http://schemas.openxmlformats.org/drawingml/2006/main"/>
          <a:p xmlns:a="http://schemas.openxmlformats.org/drawingml/2006/main">
            <a:pPr algn="ctr">
              <a:buNone/>
              <a:defRPr sz="720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Unseen: semantic transfer remains weak</a:t>
            </a:r>
          </a:p>
        </p:txBody>
      </p:sp>
    </p:spTree>
    <p:extLst>
      <p:ext uri="{BB962C8B-B14F-4D97-AF65-F5344CB8AC3E}">
        <p14:creationId xmlns:p14="http://schemas.microsoft.com/office/powerpoint/2010/main" val="4663143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Oval 2">
            <a:extLst xmlns:a="http://schemas.openxmlformats.org/drawingml/2006/main">
              <a:ext uri="{FF2B5EF4-FFF2-40B4-BE49-F238E27FC236}">
                <a16:creationId xmlns:a16="http://schemas.microsoft.com/office/drawing/2014/main" id="{04F646ED-7AC9-4F71-91AC-2320850EF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21792" y="589788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8014DDDC-EB3C-4B5A-A37B-DF6E8B64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5855" y="6126480"/>
            <a:ext cx="1005840" cy="1005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E3B20878-1F7D-4716-8FC1-FA534355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"/>
            <a:ext cx="841248" cy="2194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2700">
            <a:solidFill>
              <a:srgbClr val="D7EA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B86E78-7CB1-42A8-A6C6-E7746789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57200"/>
            <a:ext cx="768096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70" b="1" i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RESULTS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8FE53FB-398E-4F7E-B791-5A1221E6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18288" rIns="36576" bIns="18288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30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Shortcut ablation: does RoBERTa use the contract?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7B19382-A211-4B21-9701-1755B5B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070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18288" rIns="36576" bIns="18288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9" b="0" i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40">
                <a:solidFill>
                  <a:srgbClr val="475569"/>
                </a:solidFill>
                <a:latin typeface="Aptos"/>
                <a:ea typeface="Aptos"/>
                <a:cs typeface="Aptos"/>
              </a:rPr>
              <a:t>The central evidence is the performance drop after removing natural-language constraints.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4B8C2F4-42B9-4AEE-A420-C9ACE629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8775" y="6537960"/>
            <a:ext cx="22860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550" b="1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14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999485E-8945-4375-BFC8-A947D161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47104"/>
            <a:ext cx="256032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" b="0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Semantic API Request Diagnosis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9192F1C-3585-4FCA-A11C-72833082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" y="1385316"/>
            <a:ext cx="5715000" cy="4251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1E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E9DF446D-2227-4673-AE9E-47C08083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344168"/>
            <a:ext cx="5715000" cy="4251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ED7A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1DDE918-AF18-4C46-AF6B-05B9BA31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572768"/>
            <a:ext cx="5166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Central check: does RoBERTa use contract text?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718B840-3B3C-4566-9026-D50ADB4E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92807"/>
            <a:ext cx="5074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19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Semantic macro-F1 drops when constraints are removed.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C2F7B08-0758-4DB5-BA63-97C55D33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318003"/>
            <a:ext cx="13716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4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seen full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1416C912-1414-4472-99A6-84F099D3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331720"/>
            <a:ext cx="3429000" cy="1645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ED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740A405-016A-43FA-A4B8-6141A1EF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331720"/>
            <a:ext cx="2767203" cy="1645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5A92F1-AA2D-420C-A1AB-D47BD042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2318003"/>
            <a:ext cx="4572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4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0.807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94EBBD8-0F6B-4AEE-B4DF-A21BD418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756915"/>
            <a:ext cx="13716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4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seen no constraints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1FE683F-C9CA-4C96-821A-02E99FDF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770632"/>
            <a:ext cx="3429000" cy="1645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ED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C630D2B9-0175-4B52-A348-183D2C97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770632"/>
            <a:ext cx="630936" cy="1645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476C1F2-ADA8-489B-B052-9B18C360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2756915"/>
            <a:ext cx="4572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4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0.184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AE28AA2-672D-47E6-8BAE-FA38E4C0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323844"/>
            <a:ext cx="13716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4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unseen full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AC864BFB-810F-461A-AD2B-3413B84E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3337560"/>
            <a:ext cx="3429000" cy="1645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ED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FB2EA308-3511-4FB9-B4A7-9C4E8373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3337560"/>
            <a:ext cx="1207007" cy="1645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D4FF57E-823F-415E-BF48-E13ED7C4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323844"/>
            <a:ext cx="4572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4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0.352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C07DC214-39C8-4936-BE3E-4D5AA310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762756"/>
            <a:ext cx="13716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40" b="0" i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unseen no constraints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3E0565CF-23D0-4558-BD4C-BBBC2DC9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3776472"/>
            <a:ext cx="3429000" cy="1645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ED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5CA01657-E53D-4061-9E51-96518650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3776472"/>
            <a:ext cx="442341" cy="1645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37818D24-1009-4D35-BE7D-E70ECCB8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762756"/>
            <a:ext cx="4572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4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0.129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1A306749-7555-48C0-98FC-160D20DD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663440"/>
            <a:ext cx="4892040" cy="45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2700">
            <a:solidFill>
              <a:srgbClr val="FED7A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1885E52F-B942-4518-BD0D-D469ADC3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09744"/>
            <a:ext cx="452628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0" b="1" i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This supports contract sensitivity, especially in seen endpoint families.</a:t>
            </a:r>
          </a:p>
        </p:txBody>
      </p:sp>
      <p:sp>
        <p:nvSpPr>
          <p:cNvPr id="57" name="Rounded Rectangle 56">
            <a:extLst xmlns:a="http://schemas.openxmlformats.org/drawingml/2006/main">
              <a:ext uri="{FF2B5EF4-FFF2-40B4-BE49-F238E27FC236}">
                <a16:creationId xmlns:a16="http://schemas.microsoft.com/office/drawing/2014/main" id="{74BFEA84-D9BE-49E8-BA24-0DB40869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33872"/>
            <a:ext cx="877824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36576" tIns="18288" rIns="36576" bIns="18288" anchor="ctr"/>
          <a:lstStyle xmlns:a="http://schemas.openxmlformats.org/drawingml/2006/main"/>
          <a:p xmlns:a="http://schemas.openxmlformats.org/drawingml/2006/main">
            <a:pPr algn="ctr">
              <a:buNone/>
              <a:defRPr sz="730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800">
                <a:solidFill>
                  <a:srgbClr val="475569"/>
                </a:solidFill>
                <a:latin typeface="Aptos"/>
                <a:ea typeface="Aptos"/>
                <a:cs typeface="Aptos"/>
              </a:rPr>
              <a:t>Severity and LLM sample results are reported in the appendix.</a:t>
            </a:r>
          </a:p>
        </p:txBody>
      </p:sp>
      <p:sp>
        <p:nvSpPr>
          <p:cNvPr id="58" name="Rounded Rectangle 57">
            <a:extLst xmlns:a="http://schemas.openxmlformats.org/drawingml/2006/main">
              <a:ext uri="{FF2B5EF4-FFF2-40B4-BE49-F238E27FC236}">
                <a16:creationId xmlns:a16="http://schemas.microsoft.com/office/drawing/2014/main" id="{3647436D-0BA9-4AAA-8CE9-2334FAEA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389888"/>
            <a:ext cx="4526280" cy="42245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D7E0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9" name="Rounded Rectangle 58">
            <a:extLst xmlns:a="http://schemas.openxmlformats.org/drawingml/2006/main">
              <a:ext uri="{FF2B5EF4-FFF2-40B4-BE49-F238E27FC236}">
                <a16:creationId xmlns:a16="http://schemas.microsoft.com/office/drawing/2014/main" id="{80474073-A93A-475E-85C5-9D3EECC4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1645920"/>
            <a:ext cx="3611880" cy="2377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0160">
            <a:solidFill>
              <a:srgbClr val="BFDB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891C56D6-F8E9-401B-8FB7-FDB7D946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888" y="1709928"/>
            <a:ext cx="352044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MAIN INTERPRETATION</a:t>
            </a:r>
          </a:p>
        </p:txBody>
      </p:sp>
      <p:sp>
        <p:nvSpPr>
          <p:cNvPr id="61" name="Rounded Rectangle 60">
            <a:extLst xmlns:a="http://schemas.openxmlformats.org/drawingml/2006/main">
              <a:ext uri="{FF2B5EF4-FFF2-40B4-BE49-F238E27FC236}">
                <a16:creationId xmlns:a16="http://schemas.microsoft.com/office/drawing/2014/main" id="{67B9F677-0656-4EC6-B43B-06AA6D32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8312" y="2121408"/>
            <a:ext cx="3703320" cy="6949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10160">
            <a:solidFill>
              <a:srgbClr val="BBF7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3F324958-AA7A-4464-9C8E-C024F9D8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192" y="2240280"/>
            <a:ext cx="128016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819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t>Seen families</a:t>
            </a:r>
          </a:p>
        </p:txBody>
      </p:sp>
      <p:sp>
        <p:nvSpPr>
          <p:cNvPr id="63" name="TextBox 62">
            <a:extLst xmlns:a="http://schemas.openxmlformats.org/drawingml/2006/main">
              <a:ext uri="{FF2B5EF4-FFF2-40B4-BE49-F238E27FC236}">
                <a16:creationId xmlns:a16="http://schemas.microsoft.com/office/drawing/2014/main" id="{E24F931A-B50B-4EED-BBC6-F83C42C4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1992"/>
            <a:ext cx="201168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0.807 → 0.184</a:t>
            </a:r>
          </a:p>
        </p:txBody>
      </p:sp>
      <p:sp>
        <p:nvSpPr>
          <p:cNvPr id="64" name="TextBox 63">
            <a:extLst xmlns:a="http://schemas.openxmlformats.org/drawingml/2006/main">
              <a:ext uri="{FF2B5EF4-FFF2-40B4-BE49-F238E27FC236}">
                <a16:creationId xmlns:a16="http://schemas.microsoft.com/office/drawing/2014/main" id="{78C588A9-BA57-45F2-BAF8-7FCFD6F9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192" y="2487168"/>
            <a:ext cx="324612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20" b="0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t>Large drop: strong evidence of contract sensitivity in-domain.</a:t>
            </a: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9E10034D-AB9B-40A0-9CD4-74C9E0D6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8312" y="3017520"/>
            <a:ext cx="3703320" cy="6949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0160">
            <a:solidFill>
              <a:srgbClr val="FCD34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6" name="TextBox 65">
            <a:extLst xmlns:a="http://schemas.openxmlformats.org/drawingml/2006/main">
              <a:ext uri="{FF2B5EF4-FFF2-40B4-BE49-F238E27FC236}">
                <a16:creationId xmlns:a16="http://schemas.microsoft.com/office/drawing/2014/main" id="{264905C0-320E-41DA-841F-3380DC99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192" y="3136392"/>
            <a:ext cx="13258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819" b="1">
                <a:solidFill>
                  <a:srgbClr val="92400E"/>
                </a:solidFill>
                <a:latin typeface="Aptos"/>
                <a:ea typeface="Aptos"/>
                <a:cs typeface="Aptos"/>
              </a:defRPr>
            </a:pPr>
            <a:r>
              <a:t>Unseen families</a:t>
            </a:r>
          </a:p>
        </p:txBody>
      </p:sp>
      <p:sp>
        <p:nvSpPr>
          <p:cNvPr id="67" name="TextBox 66">
            <a:extLst xmlns:a="http://schemas.openxmlformats.org/drawingml/2006/main">
              <a:ext uri="{FF2B5EF4-FFF2-40B4-BE49-F238E27FC236}">
                <a16:creationId xmlns:a16="http://schemas.microsoft.com/office/drawing/2014/main" id="{20CF8B0F-78C1-494B-9D1C-02205C3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18104"/>
            <a:ext cx="201168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92400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0.352 → 0.129</a:t>
            </a:r>
          </a:p>
        </p:txBody>
      </p:sp>
      <p:sp>
        <p:nvSpPr>
          <p:cNvPr id="68" name="TextBox 67">
            <a:extLst xmlns:a="http://schemas.openxmlformats.org/drawingml/2006/main">
              <a:ext uri="{FF2B5EF4-FFF2-40B4-BE49-F238E27FC236}">
                <a16:creationId xmlns:a16="http://schemas.microsoft.com/office/drawing/2014/main" id="{10837052-7A7A-4248-B50B-1CC5727F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192" y="3383280"/>
            <a:ext cx="338328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20" b="0">
                <a:solidFill>
                  <a:srgbClr val="92400E"/>
                </a:solidFill>
                <a:latin typeface="Aptos"/>
                <a:ea typeface="Aptos"/>
                <a:cs typeface="Aptos"/>
              </a:defRPr>
            </a:pPr>
            <a:r>
              <a:t>Still uses contract text, but absolute semantic transfer remains weak.</a:t>
            </a:r>
          </a:p>
        </p:txBody>
      </p:sp>
      <p:sp>
        <p:nvSpPr>
          <p:cNvPr id="69" name="Rounded Rectangle 68">
            <a:extLst xmlns:a="http://schemas.openxmlformats.org/drawingml/2006/main">
              <a:ext uri="{FF2B5EF4-FFF2-40B4-BE49-F238E27FC236}">
                <a16:creationId xmlns:a16="http://schemas.microsoft.com/office/drawing/2014/main" id="{B7BF5F15-8561-4822-9475-7D890DC1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8312" y="3913632"/>
            <a:ext cx="3703320" cy="6949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EF2F2"/>
          </a:solidFill>
          <a:ln xmlns:a="http://schemas.openxmlformats.org/drawingml/2006/main" w="10160">
            <a:solidFill>
              <a:srgbClr val="FECAC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0" name="TextBox 69">
            <a:extLst xmlns:a="http://schemas.openxmlformats.org/drawingml/2006/main">
              <a:ext uri="{FF2B5EF4-FFF2-40B4-BE49-F238E27FC236}">
                <a16:creationId xmlns:a16="http://schemas.microsoft.com/office/drawing/2014/main" id="{58DD7FEB-58A6-4672-9946-06F7806D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192" y="4041648"/>
            <a:ext cx="10972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819" b="1">
                <a:solidFill>
                  <a:srgbClr val="991B1B"/>
                </a:solidFill>
                <a:latin typeface="Aptos"/>
                <a:ea typeface="Aptos"/>
                <a:cs typeface="Aptos"/>
              </a:defRPr>
            </a:pPr>
            <a:r>
              <a:t>Key lesson</a:t>
            </a:r>
          </a:p>
        </p:txBody>
      </p:sp>
      <p:sp>
        <p:nvSpPr>
          <p:cNvPr id="71" name="TextBox 70">
            <a:extLst xmlns:a="http://schemas.openxmlformats.org/drawingml/2006/main">
              <a:ext uri="{FF2B5EF4-FFF2-40B4-BE49-F238E27FC236}">
                <a16:creationId xmlns:a16="http://schemas.microsoft.com/office/drawing/2014/main" id="{E16454C7-2EB9-4534-962B-983178A7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023360"/>
            <a:ext cx="201168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991B1B"/>
                </a:solidFill>
                <a:latin typeface="Aptos"/>
                <a:ea typeface="Aptos"/>
                <a:cs typeface="Aptos"/>
              </a:defRPr>
            </a:pPr>
            <a:r>
              <a:t>Shortcut checks matter</a:t>
            </a:r>
          </a:p>
        </p:txBody>
      </p:sp>
      <p:sp>
        <p:nvSpPr>
          <p:cNvPr id="72" name="TextBox 71">
            <a:extLst xmlns:a="http://schemas.openxmlformats.org/drawingml/2006/main">
              <a:ext uri="{FF2B5EF4-FFF2-40B4-BE49-F238E27FC236}">
                <a16:creationId xmlns:a16="http://schemas.microsoft.com/office/drawing/2014/main" id="{49392EBE-11F2-42C0-94C7-C75732EB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192" y="4288536"/>
            <a:ext cx="34290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20" b="0">
                <a:solidFill>
                  <a:srgbClr val="991B1B"/>
                </a:solidFill>
                <a:latin typeface="Aptos"/>
                <a:ea typeface="Aptos"/>
                <a:cs typeface="Aptos"/>
              </a:defRPr>
            </a:pPr>
            <a:r>
              <a:t>High full-test scores can hide whether a model actually reads constraints.</a:t>
            </a:r>
          </a:p>
        </p:txBody>
      </p:sp>
    </p:spTree>
    <p:extLst>
      <p:ext uri="{BB962C8B-B14F-4D97-AF65-F5344CB8AC3E}">
        <p14:creationId xmlns:p14="http://schemas.microsoft.com/office/powerpoint/2010/main" val="7069383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val 1">
            <a:extLst xmlns:a="http://schemas.openxmlformats.org/drawingml/2006/main">
              <a:ext uri="{FF2B5EF4-FFF2-40B4-BE49-F238E27FC236}">
                <a16:creationId xmlns:a16="http://schemas.microsoft.com/office/drawing/2014/main" id="{4C40D42F-C93F-4763-937C-5ED37B8F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914400" y="-82296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Oval 2">
            <a:extLst xmlns:a="http://schemas.openxmlformats.org/drawingml/2006/main">
              <a:ext uri="{FF2B5EF4-FFF2-40B4-BE49-F238E27FC236}">
                <a16:creationId xmlns:a16="http://schemas.microsoft.com/office/drawing/2014/main" id="{5DE86922-FC0B-4EC7-ACCA-E1D4268E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495" y="548640"/>
            <a:ext cx="3474720" cy="34747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B5C1BA4F-9E5F-46E6-9AA3-41AB95D2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897880"/>
            <a:ext cx="3840480" cy="1828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4D49E66-C70E-4395-B0F6-7160A080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21792"/>
            <a:ext cx="969264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t>Final conclusion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0336EB-7F25-49F4-95C0-20CB9254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133856"/>
            <a:ext cx="10241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t>The rule baseline is not an embarrassment — it is the discovery that motivated the harder evaluation.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FDA4EAE-501B-4CFC-B871-32FE438F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20240"/>
            <a:ext cx="5074920" cy="822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E2C8B3E-E6E0-4B7B-90A3-B7E3B33D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20240"/>
            <a:ext cx="5029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34DEC2D-7BE2-4990-A39F-72BF58EC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08483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Full-test scores can mislead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3169BC5-383B-4BF9-9077-0C3B0B59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395728"/>
            <a:ext cx="45720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60" b="0" i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t>many errors are request-obvious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58472DF-1AE6-4054-8E9B-B9B26F05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1920240"/>
            <a:ext cx="5074920" cy="822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DB277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805B811-875A-4C02-8445-DDDC0601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1920240"/>
            <a:ext cx="5029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277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A6412B2-BCB9-425D-A642-4EDF7179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08483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Hard subsets matter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BAB172F-613F-400C-86CE-874114DC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395728"/>
            <a:ext cx="45720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60" b="0" i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t>contract-dependent evaluation reveals difficulty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847D1EE-B180-4629-AEF4-557FCF53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63240"/>
            <a:ext cx="5074920" cy="822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14B8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01EC70A-DA8B-4EA4-A1A4-6874B57A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63240"/>
            <a:ext cx="5029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AAD401B-8363-4D7D-835C-BB540B2F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22783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RoBERTa is useful in-domain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EC482F2-34E2-47C9-92F4-0A2CE8A3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538728"/>
            <a:ext cx="45720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60" b="0" i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t>performs well on contract-dependent seen-family examples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BEA7CD5B-4B12-4620-BBD7-7E258258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3063240"/>
            <a:ext cx="5074920" cy="822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59E0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B6F5769-FBCE-4267-BDD4-94186585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3063240"/>
            <a:ext cx="5029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4A7745-5E96-4467-B2E2-97BC3B94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22783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Unseen transfer remains hard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BBF1257-974C-4456-85A3-9F7C6F1D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538728"/>
            <a:ext cx="457200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60" b="0" i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760">
                <a:solidFill>
                  <a:srgbClr val="CBD5E1"/>
                </a:solidFill>
              </a:rPr>
              <a:t>held-out semantic transfer remains difficult in our benchmark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BB16AFF8-5405-4E9B-B40B-0B0D745D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36592"/>
            <a:ext cx="104698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6B6D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F41A7D4-982E-4436-B69F-AAABC3C1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956048"/>
            <a:ext cx="14173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9" b="1" i="0">
                <a:solidFill>
                  <a:srgbClr val="06B6D4"/>
                </a:solidFill>
                <a:latin typeface="Aptos"/>
                <a:ea typeface="Aptos"/>
                <a:cs typeface="Aptos"/>
              </a:defRPr>
            </a:pPr>
            <a:r>
              <a:t>Main contribution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46ED803-C87A-4E04-9715-D802F3EA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4882896"/>
            <a:ext cx="8321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High full-test scores can hide shortcut behavior; contract-dependent unseen-family evaluation exposes the real challenge.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6EBC49CB-1B37-431E-BAB7-2E556FE8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492240"/>
            <a:ext cx="292608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" b="0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Semantic API Request Diagnosis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E5CA4A42-B529-4E4E-97E7-C312029C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5895" y="6492240"/>
            <a:ext cx="22860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7432" tIns="9144" rIns="27432" bIns="9144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600" b="1" i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08847324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val 1">
            <a:extLst xmlns:a="http://schemas.openxmlformats.org/drawingml/2006/main">
              <a:ext uri="{FF2B5EF4-FFF2-40B4-BE49-F238E27FC236}">
                <a16:creationId xmlns:a16="http://schemas.microsoft.com/office/drawing/2014/main" id="{9CD19653-C294-4704-B9D7-ABA6C298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4552" y="0"/>
            <a:ext cx="777240" cy="777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Oval 2">
            <a:extLst xmlns:a="http://schemas.openxmlformats.org/drawingml/2006/main">
              <a:ext uri="{FF2B5EF4-FFF2-40B4-BE49-F238E27FC236}">
                <a16:creationId xmlns:a16="http://schemas.microsoft.com/office/drawing/2014/main" id="{9829CE1C-109C-443C-819C-C42B52BF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21792" y="5897880"/>
            <a:ext cx="1600200" cy="1600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6778ED6D-36A5-4C2B-841F-A8D0E7DE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3112" y="6126480"/>
            <a:ext cx="1005840" cy="10058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3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98AAF114-2807-4FA6-ACE7-B725BF8C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"/>
            <a:ext cx="841248" cy="2194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0160">
            <a:solidFill>
              <a:srgbClr val="BFDB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F9B2754-FE1C-4717-A89E-D94FA830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57200"/>
            <a:ext cx="768096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APPENDIX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8614608-D140-475E-9C16-83F23B0E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97840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Auxiliary checks: severity and exploratory LLM sample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8601177-0415-4308-B4BD-A79B569A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561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94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Backup evidence only: these results should not replace the main full-test and hard-subset evaluation.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970338-F64C-4255-B66C-69CF2698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6032" y="6537960"/>
            <a:ext cx="22860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16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01F88CD-6DA5-4460-BDA0-08F6CBDC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47104"/>
            <a:ext cx="256032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6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Semantic API Request Diagnosis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11F6346-1A3A-417F-9C22-E152D3BF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499616"/>
            <a:ext cx="5349240" cy="4297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D7E0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2372C8D-1483-44EC-8EB8-968C0942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1755648"/>
            <a:ext cx="2377440" cy="228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3FF"/>
          </a:solidFill>
          <a:ln xmlns:a="http://schemas.openxmlformats.org/drawingml/2006/main" w="10160">
            <a:solidFill>
              <a:srgbClr val="DDD6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FA52E1C-BA9F-4628-89FB-7F58E5B9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1" y="1819656"/>
            <a:ext cx="228600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0" b="1">
                <a:solidFill>
                  <a:srgbClr val="7C3AED"/>
                </a:solidFill>
                <a:latin typeface="Aptos"/>
                <a:ea typeface="Aptos"/>
                <a:cs typeface="Aptos"/>
              </a:defRPr>
            </a:pPr>
            <a:r>
              <a:t>EXPLORATORY · N=120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DE2A191-AB28-48E2-B459-FD1E9B1F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2139696"/>
            <a:ext cx="4389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Fixed-sample LLM context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C81A627-9CDF-4F74-8122-09C2D6DF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2450592"/>
            <a:ext cx="43891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819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Combined sample semantic macro-F1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DDFD6F2-7A85-47E3-A928-B64001F4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16352"/>
            <a:ext cx="1261872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4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visible rule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A4F7B98-6CB5-4DFD-9977-D34FDEB9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834640"/>
            <a:ext cx="2651760" cy="1463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4FBEFB4-ED9E-4D89-AC2C-BD0D09D0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834640"/>
            <a:ext cx="2511216" cy="1463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D8D2BBA-F979-461F-A242-5D60C4D4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816352"/>
            <a:ext cx="475488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4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0.947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1259023-D8D9-465F-8B66-0A99EB46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246120"/>
            <a:ext cx="1261872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4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RoBERTa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17EC9C19-59CE-4283-8A11-3C88861F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264408"/>
            <a:ext cx="2651760" cy="1463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BD4C9FA-F8B7-4305-BE42-F581D46D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264408"/>
            <a:ext cx="1567190" cy="1463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0A1B799-685C-4DAE-B629-DBC6ED24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246120"/>
            <a:ext cx="475488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4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0.591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747F55B-0E2E-4EDA-83B8-370A785B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75887"/>
            <a:ext cx="1261872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4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zero-shot LLM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55227D9E-71BF-4847-944A-F86823F7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694175"/>
            <a:ext cx="2651760" cy="1463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739E77A5-D1E3-4D72-9D3B-7A57C020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694175"/>
            <a:ext cx="692109" cy="1463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989E78C-E83B-4943-80A4-3CA4C38E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675887"/>
            <a:ext cx="475488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4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0.261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A4CA8AA3-BDC1-4ADC-BE35-F075EF35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105655"/>
            <a:ext cx="1261872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4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few-shot LLM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E7D4FF77-330F-4127-A7DF-AD432687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123943"/>
            <a:ext cx="2651760" cy="1463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45D49EA1-D9C6-48DB-83A6-F512F285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123943"/>
            <a:ext cx="318211" cy="1463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1B718E40-A476-4D52-98E7-F75E1E6E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105655"/>
            <a:ext cx="475488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4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0.120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8922BC78-0A53-422E-9344-62195B06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864608"/>
            <a:ext cx="4498848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3FF"/>
          </a:solidFill>
          <a:ln xmlns:a="http://schemas.openxmlformats.org/drawingml/2006/main" w="10160">
            <a:solidFill>
              <a:srgbClr val="DDD6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2F8280E6-873E-4DFC-BC02-543A1278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5010912"/>
            <a:ext cx="4160520" cy="118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20" b="0">
                <a:solidFill>
                  <a:srgbClr val="4C1D95"/>
                </a:solidFill>
                <a:latin typeface="Aptos"/>
                <a:ea typeface="Aptos"/>
                <a:cs typeface="Aptos"/>
              </a:defRPr>
            </a:pPr>
            <a:r>
              <a:t>Use as context only: 40 seen + 40 unseen + 40 contract-dependent unseen examples.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C9D23B6F-30D6-4FD4-B405-2A54F39D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499616"/>
            <a:ext cx="5166360" cy="4297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D7E0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A4F4881B-5114-4D04-8F8F-BA8E9941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1755648"/>
            <a:ext cx="2468880" cy="228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0160">
            <a:solidFill>
              <a:srgbClr val="FCD34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558361A8-6B28-4009-8C50-77B5A906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1819656"/>
            <a:ext cx="237744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0" b="1">
                <a:solidFill>
                  <a:srgbClr val="92400E"/>
                </a:solidFill>
                <a:latin typeface="Aptos"/>
                <a:ea typeface="Aptos"/>
                <a:cs typeface="Aptos"/>
              </a:defRPr>
            </a:pPr>
            <a:r>
              <a:t>AUXILIARY OUTPUT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A12BE870-70BC-47A0-BFDD-45F4326A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139696"/>
            <a:ext cx="4389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Severity accuracy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B1C821DB-B02B-4F3A-92FF-30CE50D7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450592"/>
            <a:ext cx="4480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819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t>Reported as an auxiliary check derived from predicted labels.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673FABC6-9C7B-4691-9F24-BAE619C2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88920"/>
            <a:ext cx="429768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0160">
            <a:solidFill>
              <a:srgbClr val="BFDB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3EC7FA8E-C765-4320-83AB-4A8203C0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898648"/>
            <a:ext cx="109728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68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model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53F21F72-97F4-4A82-9D60-B8327D19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898648"/>
            <a:ext cx="64008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seen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C6E137FA-8315-40DB-872C-02FAAB0B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2898648"/>
            <a:ext cx="73152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8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unseen</a:t>
            </a:r>
          </a:p>
        </p:txBody>
      </p:sp>
      <p:sp>
        <p:nvSpPr>
          <p:cNvPr id="43" name="Rounded Rectangle 42">
            <a:extLst xmlns:a="http://schemas.openxmlformats.org/drawingml/2006/main">
              <a:ext uri="{FF2B5EF4-FFF2-40B4-BE49-F238E27FC236}">
                <a16:creationId xmlns:a16="http://schemas.microsoft.com/office/drawing/2014/main" id="{BC4336AC-A80D-4A32-AA16-E2BEF0D5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91256"/>
            <a:ext cx="4297680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016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F4324447-AF74-4830-BC69-3FA658C9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300984"/>
            <a:ext cx="137160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4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visible rule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118C963E-8C72-4223-8CE3-AC0567CE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291839"/>
            <a:ext cx="64008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0.820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7E84D490-C66D-42AA-8238-8C58D38F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3291839"/>
            <a:ext cx="73152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0.931</a:t>
            </a:r>
          </a:p>
        </p:txBody>
      </p:sp>
      <p:sp>
        <p:nvSpPr>
          <p:cNvPr id="47" name="Rounded Rectangle 46">
            <a:extLst xmlns:a="http://schemas.openxmlformats.org/drawingml/2006/main">
              <a:ext uri="{FF2B5EF4-FFF2-40B4-BE49-F238E27FC236}">
                <a16:creationId xmlns:a16="http://schemas.microsoft.com/office/drawing/2014/main" id="{27F82B10-BB7F-47C8-A602-F5BAC807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666744"/>
            <a:ext cx="4297680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016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278830E5-4EED-4E53-9F87-45F403C3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76472"/>
            <a:ext cx="1371600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4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RoBERTa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6194F678-4C91-400F-9D90-BD65A259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67328"/>
            <a:ext cx="64008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0.927</a:t>
            </a:r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1EDDA21A-19F6-40A2-8892-195017CA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3767328"/>
            <a:ext cx="73152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0.749</a:t>
            </a:r>
          </a:p>
        </p:txBody>
      </p:sp>
      <p:sp>
        <p:nvSpPr>
          <p:cNvPr id="51" name="Rounded Rectangle 50">
            <a:extLst xmlns:a="http://schemas.openxmlformats.org/drawingml/2006/main">
              <a:ext uri="{FF2B5EF4-FFF2-40B4-BE49-F238E27FC236}">
                <a16:creationId xmlns:a16="http://schemas.microsoft.com/office/drawing/2014/main" id="{D564DBF7-1FB4-4B51-B01D-19BF921D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70832"/>
            <a:ext cx="4297680" cy="6217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0160">
            <a:solidFill>
              <a:srgbClr val="FCD34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6E92D237-DD26-418A-9215-2745F36B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498848"/>
            <a:ext cx="109728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80" b="1">
                <a:solidFill>
                  <a:srgbClr val="92400E"/>
                </a:solidFill>
                <a:latin typeface="Aptos"/>
                <a:ea typeface="Aptos"/>
                <a:cs typeface="Aptos"/>
              </a:defRPr>
            </a:pPr>
            <a:r>
              <a:t>Interpretation</a:t>
            </a: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18691494-8BDB-4107-8BBC-6D13E96E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718304"/>
            <a:ext cx="3767328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720" b="0">
                <a:solidFill>
                  <a:srgbClr val="92400E"/>
                </a:solidFill>
                <a:latin typeface="Aptos"/>
                <a:ea typeface="Aptos"/>
                <a:cs typeface="Aptos"/>
              </a:defRPr>
            </a:pPr>
            <a:r>
              <a:t>Severity is useful for completeness, but the project claim is based on error-label and semantic metrics.</a:t>
            </a:r>
          </a:p>
        </p:txBody>
      </p:sp>
      <p:sp>
        <p:nvSpPr>
          <p:cNvPr id="54" name="Rounded Rectangle 53">
            <a:extLst xmlns:a="http://schemas.openxmlformats.org/drawingml/2006/main">
              <a:ext uri="{FF2B5EF4-FFF2-40B4-BE49-F238E27FC236}">
                <a16:creationId xmlns:a16="http://schemas.microsoft.com/office/drawing/2014/main" id="{A6352333-EC3F-417A-94B0-290B12C1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989320"/>
            <a:ext cx="8183879" cy="3474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10160">
            <a:solidFill>
              <a:srgbClr val="BFDBF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EA93A9E7-8B50-40FB-A1B9-F454BA1D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6099048"/>
            <a:ext cx="7818120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4864" tIns="18288" rIns="54864" bIns="18288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Backup evidence for Q&amp;A: LLM sample and severity metrics are not part of the central claim.</a:t>
            </a:r>
          </a:p>
        </p:txBody>
      </p:sp>
    </p:spTree>
    <p:extLst>
      <p:ext uri="{BB962C8B-B14F-4D97-AF65-F5344CB8AC3E}">
        <p14:creationId xmlns:p14="http://schemas.microsoft.com/office/powerpoint/2010/main" val="27535565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2026-06-09T12:07:35.0050000Z</dcterms:created>
  <dcterms:modified xsi:type="dcterms:W3CDTF">2026-06-09T12:07:35.0050000Z</dcterms:modified>
</coreProperties>
</file>